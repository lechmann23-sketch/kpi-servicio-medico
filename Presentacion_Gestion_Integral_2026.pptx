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presentan resultados de enero–junio. Las diapositivas 10 a 12 contienen exclusivamente el comparativo de siniestralidad enero–septiembre, solicitado por la responsable. No se incorporan programas implementados después del primer semestre.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actuaciones no son personas únicas. BP es presencia administrativa dentro del semestre. Los 13 rechazos corresponden a la cohorte de casos iniciados en 1S y al texto visible, no a 13 decisiones fechadas en ese período. Botiquines: la última revisión disponible está fechada en 1S. Vacunas y asistencia a RCP/DEA confirmadas por la responsable; aplicaciones no equivalen a cobertura.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Volumen por fecha real. 947 enfermería, 348 médica, 1238 administrativa y 9 sin clasificar. Los 80 registros de contratistas corresponden a otra población. Se conservan siete duplicados exactos en la lectura base; escenario sin duplicados 2535. No se infiere productividad sin tiempos profesionales.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BP: 38 episodios administrativos, 32 personas, arrastre8 + inicios30 − altas23 = activos15. ART: 32 episodios, 30 personas, arrastre4 + inicios28 − altas26 = activos6. BP une intervalos administrativos contiguos o superpuestos por persona. ART no une intervalos; deduplica por persona, inicio, contingencia y diagnóstico. Las altas son cierres administrativos.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19 inicios/9 menciones de rechazo; AI8/3; EP1/1. La categoría es mención documental actual del rechazo en casos iniciados1S, no resolución en1S. Sin mención explícita no equivale a aceptación. No se infieren motivos desde diagnósticos. EP tiene un solo caso y no sustenta un patrón.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Clasificación de texto en grupos amplios. 832 de1295 registros clínicos clasificables; 463 sin grupo único. Global: musculoesqueléticos239, digestivos148, respiratorios/ORL122, oculares95, neurológicos/cefalea84. Una persona puede consultar varias veces. No es prevalencia ni diagnóstico definitivo y no se infiere origen laboral. Los grupos presentados superan cinco personas estimadas.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Sector consignado en cada consulta. Selección por volumen de registros clínicos entre sectores publicables. Se presentan grupos amplios y cantidades de registros; no personas enfermas. Celdas con menos de cinco personas estimadas quedan fuera de la desagregación. El grupo predominante es el más frecuente publicable; no se supone cero en los grupos ocultos ni causalidad ocupacional.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Responsable confirma 200 aplicaciones de vacunas y capacitación RCP/DEA realizada con20 asistentes. No se calcula cobertura a partir de aplicaciones. 35 botiquines tienen su última revisión registrada entre enero y junio, no35 visitas de planta ni cumplimiento de programa. No se usa el estado más actual de equipos para afirmar disponibilidad histórica1S.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Copia de Control_Completo_Servicio_Medico_Astillero2.xlsx. Dea!A2:A5 contiene4DEA; K2:K5 fechas de último control11/03,01/05,01/03y01/05de2026: los cuatro dentrode1S. I2:I5 muestra3operativosy1fuera de servicio. Oxigeno!A2:A8 contiene7cilindros;H2:H8 muestra6operativosy1nooperativo. El inventario no tiene fecha de corte confirmada; no se afirma disponibilidad histórica durante todo el semestre. Oxigeno no incluye fecha de control. Los vencimientos de F no se interpretan como controles. Distribución de oxígeno:3ShockRoom,1unidad de traslado,3ambulancia. No se expone información personal ni se afirma que el DEA retirado para reposición ya fue repuesto.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Semestre2026:18895h médicas/400632h teóricas=4.7163%;2025:15729/401112=3.92135%. Cambio exacto0.79495pp, se muestra+0.795pp. BP está incluido en enfermedad; no se añade. Ratios de sumas, no promedio de porcentajes mensuales. La serie contextualiza carga y no establece causalidad del Servicio Médico.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informes originales de ProvinciaART informan82denuncias2025 y56en2026,16y25rechazos; gráficos norechazados66y31. Reducción denuncias31.7%, aumento rechazos56.25%, participación16/82=19.5% a25/56=44.6%. No se atribuye causalidad a gestión médica. Las frecuencias siniestral y judicial son12meses y no se usan como tasas9meses.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1064240" cy="29260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87F7A"/>
                </a:solidFill>
                <a:latin typeface="DejaVu Sans"/>
              </a:rPr>
              <a:t>SERVICIO MÉDICO  /  TANDANOR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64240" cy="502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324D"/>
                </a:solidFill>
                <a:latin typeface="DejaVu Sans"/>
              </a:rPr>
              <a:t>Gestión del Servicio Médico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71016"/>
            <a:ext cx="11064240" cy="38404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586B7C"/>
                </a:solidFill>
                <a:latin typeface="DejaVu Sans"/>
              </a:rPr>
              <a:t>Resultados realizados del primer semestre · Presentación para Dirección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64224"/>
            <a:ext cx="11064240" cy="11887"/>
          </a:xfrm>
          <a:prstGeom prst="rect">
            <a:avLst/>
          </a:prstGeom>
          <a:solidFill>
            <a:srgbClr val="D6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875520" cy="2011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86B7C"/>
                </a:solidFill>
                <a:latin typeface="DejaVu Sans"/>
              </a:rPr>
              <a:t>Enero–junio 2026  ·  8 de octubre de 2026  ·  Planilla actualizada y registros de gestión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55664"/>
            <a:ext cx="530352" cy="22860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87F7A"/>
                </a:solidFill>
                <a:latin typeface="DejaVu Sa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874519"/>
            <a:ext cx="11064240" cy="93268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17324D"/>
                </a:solidFill>
                <a:latin typeface="DejaVu Sans"/>
              </a:rPr>
              <a:t>Asistencia, seguimiento y prevención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99232"/>
            <a:ext cx="10881360" cy="107899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0">
                <a:solidFill>
                  <a:srgbClr val="586B7C"/>
                </a:solidFill>
                <a:latin typeface="DejaVu Sans"/>
              </a:rPr>
              <a:t>Actividad asistencial, seguimiento de casos y acciones preventivas realizadas.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471416"/>
            <a:ext cx="3474720" cy="162763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471416"/>
            <a:ext cx="50292" cy="162763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4590288"/>
            <a:ext cx="3163824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2.542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5248655"/>
            <a:ext cx="3163824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Actuaciones propias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5614416"/>
            <a:ext cx="3163824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Medicina, enfermería y gestión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4471416"/>
            <a:ext cx="3474720" cy="162763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4471416"/>
            <a:ext cx="50292" cy="162763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7136" y="4590288"/>
            <a:ext cx="3163824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200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136" y="5248655"/>
            <a:ext cx="3163824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Vacunas aplicadas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7136" y="5614416"/>
            <a:ext cx="3163824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Total confirmado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6448" y="4471416"/>
            <a:ext cx="3474720" cy="162763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56448" y="4471416"/>
            <a:ext cx="50292" cy="162763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11896" y="4590288"/>
            <a:ext cx="3163824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1896" y="5248655"/>
            <a:ext cx="3163824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Asistentes RCP y DEA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5614416"/>
            <a:ext cx="3163824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Capacitación realizada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1064240" cy="29260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87F7A"/>
                </a:solidFill>
                <a:latin typeface="DejaVu Sans"/>
              </a:rPr>
              <a:t>SERVICIO MÉDICO  /  TANDANOR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64240" cy="502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324D"/>
                </a:solidFill>
                <a:latin typeface="DejaVu Sans"/>
              </a:rPr>
              <a:t>Ocho resultados que sintetizan la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71016"/>
            <a:ext cx="11064240" cy="38404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586B7C"/>
                </a:solidFill>
                <a:latin typeface="DejaVu Sans"/>
              </a:rPr>
              <a:t>Actividad, casos y prevención · Unidades distintas, sin sumar entre dimensiones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64224"/>
            <a:ext cx="11064240" cy="11887"/>
          </a:xfrm>
          <a:prstGeom prst="rect">
            <a:avLst/>
          </a:prstGeom>
          <a:solidFill>
            <a:srgbClr val="D6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875520" cy="2011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86B7C"/>
                </a:solidFill>
                <a:latin typeface="DejaVu Sans"/>
              </a:rPr>
              <a:t>Enero–junio 2026  ·  8 de octubre de 2026  ·  Planilla / Control Completo / confirmaciones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55664"/>
            <a:ext cx="530352" cy="22860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87F7A"/>
                </a:solidFill>
                <a:latin typeface="DejaVu Sans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2587752" cy="181051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50292" cy="181051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2002536"/>
            <a:ext cx="2276856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2.542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2660904"/>
            <a:ext cx="2276856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Actuaciones propias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3209544"/>
            <a:ext cx="2276856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Actividad documentada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2424" y="1883664"/>
            <a:ext cx="2587752" cy="181051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2424" y="1883664"/>
            <a:ext cx="50292" cy="181051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2002536"/>
            <a:ext cx="2276856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1.295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2660904"/>
            <a:ext cx="2276856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Registros clínicos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3209544"/>
            <a:ext cx="2276856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Medicina + enfermería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883664"/>
            <a:ext cx="2587752" cy="181051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883664"/>
            <a:ext cx="50292" cy="181051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2002536"/>
            <a:ext cx="2276856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2660904"/>
            <a:ext cx="2276856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Vacunas aplicadas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3368" y="3209544"/>
            <a:ext cx="2276856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Total confirmado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5" y="1883664"/>
            <a:ext cx="2587752" cy="181051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43415" y="1883664"/>
            <a:ext cx="50292" cy="181051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98863" y="2002536"/>
            <a:ext cx="2276856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2660904"/>
            <a:ext cx="2276856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Asistentes RCP / DEA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3" y="3209544"/>
            <a:ext cx="2276856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Actividad realizada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931920"/>
            <a:ext cx="2587752" cy="181051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3931920"/>
            <a:ext cx="50292" cy="181051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4050792"/>
            <a:ext cx="2276856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" y="4709160"/>
            <a:ext cx="2276856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Episodios BP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" y="5257800"/>
            <a:ext cx="2276856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Con presencia en 1S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92424" y="3931920"/>
            <a:ext cx="2587752" cy="181051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92424" y="3931920"/>
            <a:ext cx="50292" cy="181051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47872" y="4050792"/>
            <a:ext cx="2276856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47872" y="4709160"/>
            <a:ext cx="2276856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Inicios ART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47872" y="5257800"/>
            <a:ext cx="2276856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19 AT · 8 AI · 1 EP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931920"/>
            <a:ext cx="2587752" cy="181051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17920" y="3931920"/>
            <a:ext cx="50292" cy="181051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3368" y="4050792"/>
            <a:ext cx="2276856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3368" y="4709160"/>
            <a:ext cx="2276856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Rechazos consignados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3368" y="5257800"/>
            <a:ext cx="2276856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9 AT · 3 AI · 1 EP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43415" y="3931920"/>
            <a:ext cx="2587752" cy="181051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043415" y="3931920"/>
            <a:ext cx="50292" cy="181051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98863" y="4050792"/>
            <a:ext cx="2276856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35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98863" y="4709160"/>
            <a:ext cx="2276856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Botiquines revisados*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98863" y="5257800"/>
            <a:ext cx="2276856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Revisión fechada en 1S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6016752"/>
            <a:ext cx="11064240" cy="32004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*Evidencia de revisión registrada; no equivale a cumplimiento de un programa.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1064240" cy="29260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87F7A"/>
                </a:solidFill>
                <a:latin typeface="DejaVu Sans"/>
              </a:rPr>
              <a:t>SERVICIO MÉDICO  /  TANDANOR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64240" cy="502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324D"/>
                </a:solidFill>
                <a:latin typeface="DejaVu Sans"/>
              </a:rPr>
              <a:t>La actividad combina asistencia y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71016"/>
            <a:ext cx="11064240" cy="38404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586B7C"/>
                </a:solidFill>
                <a:latin typeface="DejaVu Sans"/>
              </a:rPr>
              <a:t>2.542 actuaciones propias + 80 registros de contratistas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64224"/>
            <a:ext cx="11064240" cy="11887"/>
          </a:xfrm>
          <a:prstGeom prst="rect">
            <a:avLst/>
          </a:prstGeom>
          <a:solidFill>
            <a:srgbClr val="D6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875520" cy="2011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86B7C"/>
                </a:solidFill>
                <a:latin typeface="DejaVu Sans"/>
              </a:rPr>
              <a:t>Enero–junio 2026  ·  8 de octubre de 2026  ·  Planilla Tandanor · AT. DIARIAS / CONTRATISTAS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55664"/>
            <a:ext cx="530352" cy="22860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87F7A"/>
                </a:solidFill>
                <a:latin typeface="DejaVu Sans"/>
              </a:rPr>
              <a:t>03</a:t>
            </a:r>
          </a:p>
        </p:txBody>
      </p:sp>
      <p:pic>
        <p:nvPicPr>
          <p:cNvPr id="9" name="Picture 8" descr="activ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155776"/>
            <a:ext cx="7424927" cy="31042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0" y="2157984"/>
            <a:ext cx="3127248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700" b="1">
                <a:solidFill>
                  <a:srgbClr val="087F7A"/>
                </a:solidFill>
                <a:latin typeface="DejaVu Sans"/>
              </a:rPr>
              <a:t>1.295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779776"/>
            <a:ext cx="3127248" cy="7955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17324D"/>
                </a:solidFill>
                <a:latin typeface="DejaVu Sans"/>
              </a:rPr>
              <a:t>registros clínicos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593592"/>
            <a:ext cx="256032" cy="53035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087F7A"/>
                </a:solidFill>
                <a:latin typeface="DejaVu San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7072" y="3593592"/>
            <a:ext cx="2889504" cy="53035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947 de enfermería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187952"/>
            <a:ext cx="256032" cy="53035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087F7A"/>
                </a:solidFill>
                <a:latin typeface="DejaVu Sans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7072" y="4187952"/>
            <a:ext cx="2889504" cy="53035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348 médicos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782312"/>
            <a:ext cx="256032" cy="53035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087F7A"/>
                </a:solidFill>
                <a:latin typeface="DejaVu Sans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7072" y="4782312"/>
            <a:ext cx="2889504" cy="53035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1.238 admin.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623560"/>
            <a:ext cx="11064240" cy="630936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5623560"/>
            <a:ext cx="54864" cy="630936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5696712"/>
            <a:ext cx="10725912" cy="512063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50" b="0">
                <a:solidFill>
                  <a:srgbClr val="17324D"/>
                </a:solidFill>
                <a:latin typeface="DejaVu Sans"/>
              </a:rPr>
              <a:t>Una persona puede generar varias actuaciones: los registros expresan demanda atendida.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1064240" cy="29260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87F7A"/>
                </a:solidFill>
                <a:latin typeface="DejaVu Sans"/>
              </a:rPr>
              <a:t>SERVICIO MÉDICO  /  TANDANOR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64240" cy="502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324D"/>
                </a:solidFill>
                <a:latin typeface="DejaVu Sans"/>
              </a:rPr>
              <a:t>Seguimiento de BP y 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71016"/>
            <a:ext cx="11064240" cy="38404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586B7C"/>
                </a:solidFill>
                <a:latin typeface="DejaVu Sans"/>
              </a:rPr>
              <a:t>Flujo administrativo del semestre y situación inferida al 30 de junio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64224"/>
            <a:ext cx="11064240" cy="11887"/>
          </a:xfrm>
          <a:prstGeom prst="rect">
            <a:avLst/>
          </a:prstGeom>
          <a:solidFill>
            <a:srgbClr val="D6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875520" cy="2011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86B7C"/>
                </a:solidFill>
                <a:latin typeface="DejaVu Sans"/>
              </a:rPr>
              <a:t>Enero–junio 2026  ·  8 de octubre de 2026  ·  Planilla Tandanor · BP / 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55664"/>
            <a:ext cx="530352" cy="22860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87F7A"/>
                </a:solidFill>
                <a:latin typeface="DejaVu Sans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28800"/>
            <a:ext cx="7370064" cy="6858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911095"/>
            <a:ext cx="4395703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DejaVu Sans"/>
              </a:rPr>
              <a:t>Balance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807" y="1911095"/>
            <a:ext cx="1226576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DejaVu Sans"/>
              </a:rPr>
              <a:t>BP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8119" y="1911095"/>
            <a:ext cx="1226576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DejaVu Sans"/>
              </a:rPr>
              <a:t>ART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514600"/>
            <a:ext cx="7370064" cy="685800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596896"/>
            <a:ext cx="4395703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17324D"/>
                </a:solidFill>
                <a:latin typeface="DejaVu Sans"/>
              </a:rPr>
              <a:t>Arrastre al 01/01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7807" y="2596896"/>
            <a:ext cx="1226576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8119" y="2596896"/>
            <a:ext cx="1226576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200400"/>
            <a:ext cx="7370064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82696"/>
            <a:ext cx="4395703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17324D"/>
                </a:solidFill>
                <a:latin typeface="DejaVu Sans"/>
              </a:rPr>
              <a:t>Inicios en el semestre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27807" y="3282696"/>
            <a:ext cx="1226576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8119" y="3282696"/>
            <a:ext cx="1226576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28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886200"/>
            <a:ext cx="7370064" cy="685800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968496"/>
            <a:ext cx="4395703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17324D"/>
                </a:solidFill>
                <a:latin typeface="DejaVu Sans"/>
              </a:rPr>
              <a:t>Altas registradas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7807" y="3968496"/>
            <a:ext cx="1226576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8119" y="3968496"/>
            <a:ext cx="1226576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26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572000"/>
            <a:ext cx="7370064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654296"/>
            <a:ext cx="4395703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17324D"/>
                </a:solidFill>
                <a:latin typeface="DejaVu Sans"/>
              </a:rPr>
              <a:t>Activos al 30/06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7807" y="4654296"/>
            <a:ext cx="1226576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8119" y="4654296"/>
            <a:ext cx="1226576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47888" y="1828800"/>
            <a:ext cx="3383280" cy="3429000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0768" y="2066543"/>
            <a:ext cx="2971800" cy="59436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087F7A"/>
                </a:solidFill>
                <a:latin typeface="DejaVu Sans"/>
              </a:rPr>
              <a:t>Seguimiento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2889504"/>
            <a:ext cx="2971800" cy="20299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Se distinguen ingresos, cierres y episodios activos.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623560"/>
            <a:ext cx="11064240" cy="630936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5623560"/>
            <a:ext cx="54864" cy="630936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5696712"/>
            <a:ext cx="10725912" cy="512063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50" b="0">
                <a:solidFill>
                  <a:srgbClr val="17324D"/>
                </a:solidFill>
                <a:latin typeface="DejaVu Sans"/>
              </a:rPr>
              <a:t>Las altas son cierres administrativos; no miden por sí solas éxito terapéutico.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1064240" cy="29260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87F7A"/>
                </a:solidFill>
                <a:latin typeface="DejaVu Sans"/>
              </a:rPr>
              <a:t>SERVICIO MÉDICO  /  TANDANOR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64240" cy="502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324D"/>
                </a:solidFill>
                <a:latin typeface="DejaVu Sans"/>
              </a:rPr>
              <a:t>ART: rechazos identificados por contingencia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71016"/>
            <a:ext cx="11064240" cy="38404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586B7C"/>
                </a:solidFill>
                <a:latin typeface="DejaVu Sans"/>
              </a:rPr>
              <a:t>13 rechazos consignados entre 28 casos con inicio en enero–junio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64224"/>
            <a:ext cx="11064240" cy="11887"/>
          </a:xfrm>
          <a:prstGeom prst="rect">
            <a:avLst/>
          </a:prstGeom>
          <a:solidFill>
            <a:srgbClr val="D6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875520" cy="2011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86B7C"/>
                </a:solidFill>
                <a:latin typeface="DejaVu Sans"/>
              </a:rPr>
              <a:t>Enero–junio 2026  ·  8 de octubre de 2026  ·  Planilla Tandanor · 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55664"/>
            <a:ext cx="530352" cy="22860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87F7A"/>
                </a:solidFill>
                <a:latin typeface="DejaVu Sans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74519"/>
            <a:ext cx="3474720" cy="1691640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74519"/>
            <a:ext cx="50292" cy="1691640"/>
          </a:xfrm>
          <a:prstGeom prst="rect">
            <a:avLst/>
          </a:prstGeom>
          <a:solidFill>
            <a:srgbClr val="C98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1993391"/>
            <a:ext cx="3163824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C98545"/>
                </a:solidFill>
                <a:latin typeface="DejaVu Sans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2651760"/>
            <a:ext cx="3163824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AT · Trabajo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3081528"/>
            <a:ext cx="3163824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19 casos iniciados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1874519"/>
            <a:ext cx="3474720" cy="1691640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1874519"/>
            <a:ext cx="50292" cy="1691640"/>
          </a:xfrm>
          <a:prstGeom prst="rect">
            <a:avLst/>
          </a:prstGeom>
          <a:solidFill>
            <a:srgbClr val="C98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1993391"/>
            <a:ext cx="3163824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C98545"/>
                </a:solidFill>
                <a:latin typeface="DejaVu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2651760"/>
            <a:ext cx="3163824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AI · In itinere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3081528"/>
            <a:ext cx="3163824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8 casos iniciados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6448" y="1874519"/>
            <a:ext cx="3474720" cy="1691640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6448" y="1874519"/>
            <a:ext cx="50292" cy="1691640"/>
          </a:xfrm>
          <a:prstGeom prst="rect">
            <a:avLst/>
          </a:prstGeom>
          <a:solidFill>
            <a:srgbClr val="C98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1896" y="1993391"/>
            <a:ext cx="3163824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C98545"/>
                </a:solidFill>
                <a:latin typeface="DejaVu Sa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2651760"/>
            <a:ext cx="3163824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EP · Profesional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3081528"/>
            <a:ext cx="3163824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1 caso iniciado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840480"/>
            <a:ext cx="256032" cy="493776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087F7A"/>
                </a:solidFill>
                <a:latin typeface="DejaVu Sans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840480"/>
            <a:ext cx="10643615" cy="493776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AT reúne 9 de las 13 menciones de rechazo.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398264"/>
            <a:ext cx="256032" cy="493776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087F7A"/>
                </a:solidFill>
                <a:latin typeface="DejaVu Sans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398264"/>
            <a:ext cx="10643615" cy="493776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El seguimiento propio permite diferenciar AT, AI y EP.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956048"/>
            <a:ext cx="256032" cy="493776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087F7A"/>
                </a:solidFill>
                <a:latin typeface="DejaVu Sans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956048"/>
            <a:ext cx="10643615" cy="493776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La falta de mención de rechazo no acredita aceptación.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623560"/>
            <a:ext cx="11064240" cy="630936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5623560"/>
            <a:ext cx="54864" cy="630936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696712"/>
            <a:ext cx="10725912" cy="512063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50" b="0">
                <a:solidFill>
                  <a:srgbClr val="17324D"/>
                </a:solidFill>
                <a:latin typeface="DejaVu Sans"/>
              </a:rPr>
              <a:t>Rechazos consignados en casos iniciados en 1S; no todas las resoluciones tienen fecha.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1064240" cy="29260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87F7A"/>
                </a:solidFill>
                <a:latin typeface="DejaVu Sans"/>
              </a:rPr>
              <a:t>SERVICIO MÉDICO  /  TANDANOR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64240" cy="502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324D"/>
                </a:solidFill>
                <a:latin typeface="DejaVu Sans"/>
              </a:rPr>
              <a:t>Qué tipos de consultas atiende el servicio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71016"/>
            <a:ext cx="11064240" cy="38404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586B7C"/>
                </a:solidFill>
                <a:latin typeface="DejaVu Sans"/>
              </a:rPr>
              <a:t>832 registros con un grupo clínico clasificable entre 1.295 registros clínicos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64224"/>
            <a:ext cx="11064240" cy="11887"/>
          </a:xfrm>
          <a:prstGeom prst="rect">
            <a:avLst/>
          </a:prstGeom>
          <a:solidFill>
            <a:srgbClr val="D6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875520" cy="2011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86B7C"/>
                </a:solidFill>
                <a:latin typeface="DejaVu Sans"/>
              </a:rPr>
              <a:t>Enero–junio 2026  ·  8 de octubre de 2026  ·  Planilla Tandanor · AT. DIARIAS / CONSULTA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55664"/>
            <a:ext cx="530352" cy="22860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87F7A"/>
                </a:solidFill>
                <a:latin typeface="DejaVu Sans"/>
              </a:rPr>
              <a:t>06</a:t>
            </a:r>
          </a:p>
        </p:txBody>
      </p:sp>
      <p:pic>
        <p:nvPicPr>
          <p:cNvPr id="9" name="Picture 8" descr="grupos_clinic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953881"/>
            <a:ext cx="8522208" cy="33617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345168" y="2377440"/>
            <a:ext cx="2176272" cy="57607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087F7A"/>
                </a:solidFill>
                <a:latin typeface="DejaVu Sans"/>
              </a:rPr>
              <a:t>61,2%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45168" y="3172968"/>
            <a:ext cx="2176272" cy="1645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en los tres grupos más frecuentes.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623560"/>
            <a:ext cx="11064240" cy="630936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5623560"/>
            <a:ext cx="54864" cy="630936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696712"/>
            <a:ext cx="10725912" cy="512063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50" b="0">
                <a:solidFill>
                  <a:srgbClr val="17324D"/>
                </a:solidFill>
                <a:latin typeface="DejaVu Sans"/>
              </a:rPr>
              <a:t>Distribución de motivos registrados: no demuestra diagnóstico definitivo ni origen laboral.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1064240" cy="29260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87F7A"/>
                </a:solidFill>
                <a:latin typeface="DejaVu Sans"/>
              </a:rPr>
              <a:t>SERVICIO MÉDICO  /  TANDANOR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64240" cy="502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324D"/>
                </a:solidFill>
                <a:latin typeface="DejaVu Sans"/>
              </a:rPr>
              <a:t>Grupos clínicos frecuentes por sector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71016"/>
            <a:ext cx="11064240" cy="38404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586B7C"/>
                </a:solidFill>
                <a:latin typeface="DejaVu Sans"/>
              </a:rPr>
              <a:t>Seis sectores con mayor volumen clínico · Cada celda publicada reúne al menos cinco personas estimadas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64224"/>
            <a:ext cx="11064240" cy="11887"/>
          </a:xfrm>
          <a:prstGeom prst="rect">
            <a:avLst/>
          </a:prstGeom>
          <a:solidFill>
            <a:srgbClr val="D6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875520" cy="2011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86B7C"/>
                </a:solidFill>
                <a:latin typeface="DejaVu Sans"/>
              </a:rPr>
              <a:t>Enero–junio 2026  ·  8 de octubre de 2026  ·  Planilla Tandanor · DEPARTAMENTO / CONSULTA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55664"/>
            <a:ext cx="530352" cy="22860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87F7A"/>
                </a:solidFill>
                <a:latin typeface="DejaVu Sans"/>
              </a:rP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47088"/>
            <a:ext cx="11064240" cy="489204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929384"/>
            <a:ext cx="3145536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DejaVu Sans"/>
              </a:rPr>
              <a:t>Sector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1929384"/>
            <a:ext cx="5690311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DejaVu Sans"/>
              </a:rPr>
              <a:t>Grupo predominante publicable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1929384"/>
            <a:ext cx="1707184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DejaVu Sans"/>
              </a:rPr>
              <a:t>Registros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336292"/>
            <a:ext cx="11064240" cy="489204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18588"/>
            <a:ext cx="3145536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17324D"/>
                </a:solidFill>
                <a:latin typeface="DejaVu Sans"/>
              </a:rPr>
              <a:t>Casco Y Acero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2418588"/>
            <a:ext cx="5690311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Musculoesqueléticos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41687" y="2418588"/>
            <a:ext cx="1707184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58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825496"/>
            <a:ext cx="11064240" cy="4892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907791"/>
            <a:ext cx="3145536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17324D"/>
                </a:solidFill>
                <a:latin typeface="DejaVu Sans"/>
              </a:rPr>
              <a:t>Mecánica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2907791"/>
            <a:ext cx="5690311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Respiratorios / ORL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41687" y="2907791"/>
            <a:ext cx="1707184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314700"/>
            <a:ext cx="11064240" cy="489204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396996"/>
            <a:ext cx="3145536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17324D"/>
                </a:solidFill>
                <a:latin typeface="DejaVu Sans"/>
              </a:rPr>
              <a:t>Carenado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3396996"/>
            <a:ext cx="5690311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Musculoesqueléticos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41687" y="3396996"/>
            <a:ext cx="1707184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19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803904"/>
            <a:ext cx="11064240" cy="4892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886200"/>
            <a:ext cx="3145536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17324D"/>
                </a:solidFill>
                <a:latin typeface="DejaVu Sans"/>
              </a:rPr>
              <a:t>Syncrolift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39" y="3886200"/>
            <a:ext cx="5690311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Musculoesqueléticos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41687" y="3886200"/>
            <a:ext cx="1707184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28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293108"/>
            <a:ext cx="11064240" cy="489204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4375404"/>
            <a:ext cx="3145536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17324D"/>
                </a:solidFill>
                <a:latin typeface="DejaVu Sans"/>
              </a:rPr>
              <a:t>Serv. generales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77639" y="4375404"/>
            <a:ext cx="5690311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Musculoesqueléticos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41687" y="4375404"/>
            <a:ext cx="1707184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782312"/>
            <a:ext cx="11064240" cy="4892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4864608"/>
            <a:ext cx="3145536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17324D"/>
                </a:solidFill>
                <a:latin typeface="DejaVu Sans"/>
              </a:rPr>
              <a:t>Capital Humano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77639" y="4864608"/>
            <a:ext cx="5690311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Musculoesqueléticos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41687" y="4864608"/>
            <a:ext cx="1707184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5422392"/>
            <a:ext cx="10789920" cy="59436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Casco y Acero también registra 38 motivos oculares.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053328"/>
            <a:ext cx="11064240" cy="23774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Cantidades de registros, sin nombres ni legajos. No se publican celdas pequeñas.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1064240" cy="29260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87F7A"/>
                </a:solidFill>
                <a:latin typeface="DejaVu Sans"/>
              </a:rPr>
              <a:t>SERVICIO MÉDICO  /  TANDANOR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64240" cy="502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324D"/>
                </a:solidFill>
                <a:latin typeface="DejaVu Sans"/>
              </a:rPr>
              <a:t>Prevención y preparación para emergencias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71016"/>
            <a:ext cx="11064240" cy="38404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586B7C"/>
                </a:solidFill>
                <a:latin typeface="DejaVu Sans"/>
              </a:rPr>
              <a:t>Acciones realizadas dentro del primer semestre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64224"/>
            <a:ext cx="11064240" cy="11887"/>
          </a:xfrm>
          <a:prstGeom prst="rect">
            <a:avLst/>
          </a:prstGeom>
          <a:solidFill>
            <a:srgbClr val="D6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875520" cy="2011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86B7C"/>
                </a:solidFill>
                <a:latin typeface="DejaVu Sans"/>
              </a:rPr>
              <a:t>Enero–junio 2026  ·  8 de octubre de 2026  ·  Confirmaciones de responsable / Control Completo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55664"/>
            <a:ext cx="530352" cy="22860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87F7A"/>
                </a:solidFill>
                <a:latin typeface="DejaVu Sans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74519"/>
            <a:ext cx="3474720" cy="190195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74519"/>
            <a:ext cx="50292" cy="190195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1993391"/>
            <a:ext cx="3163824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2651760"/>
            <a:ext cx="3163824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Vacunas aplicadas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3291839"/>
            <a:ext cx="3163824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Aplicaciones confirmadas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1874519"/>
            <a:ext cx="3474720" cy="190195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1874519"/>
            <a:ext cx="50292" cy="190195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1993391"/>
            <a:ext cx="3163824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2651760"/>
            <a:ext cx="3163824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Asistentes RCP y DEA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3291839"/>
            <a:ext cx="3163824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Capacitación realizada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6448" y="1874519"/>
            <a:ext cx="3474720" cy="190195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6448" y="1874519"/>
            <a:ext cx="50292" cy="190195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1896" y="1993391"/>
            <a:ext cx="3163824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2651760"/>
            <a:ext cx="3163824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Botiquines revisados*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3291839"/>
            <a:ext cx="3163824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Evidencia fechada en 1S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114800"/>
            <a:ext cx="256032" cy="43891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087F7A"/>
                </a:solidFill>
                <a:latin typeface="DejaVu Sans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14800"/>
            <a:ext cx="10671048" cy="43891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Vacunación: una acción preventiva concreta.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617720"/>
            <a:ext cx="256032" cy="43891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087F7A"/>
                </a:solidFill>
                <a:latin typeface="DejaVu Sans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617720"/>
            <a:ext cx="10671048" cy="43891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RCP y DEA: formación realizada en respuesta a emergencias.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120640"/>
            <a:ext cx="256032" cy="43891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087F7A"/>
                </a:solidFill>
                <a:latin typeface="DejaVu Sans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120640"/>
            <a:ext cx="10671048" cy="43891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Botiquines: control documentado de elementos de atención.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5980176"/>
            <a:ext cx="11064240" cy="24688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*Última fecha de revisión disponible. Fuentes y unidades se mantienen diferenciadas.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1064240" cy="29260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87F7A"/>
                </a:solidFill>
                <a:latin typeface="DejaVu Sans"/>
              </a:rPr>
              <a:t>SERVICIO MÉDICO  /  TANDANOR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64240" cy="502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324D"/>
                </a:solidFill>
                <a:latin typeface="DejaVu Sans"/>
              </a:rPr>
              <a:t>DEA y oxígeno: equipamiento de emergencias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71016"/>
            <a:ext cx="11064240" cy="38404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586B7C"/>
                </a:solidFill>
                <a:latin typeface="DejaVu Sans"/>
              </a:rPr>
              <a:t>Controles DEA del primer semestre e inventario registrado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64224"/>
            <a:ext cx="11064240" cy="11887"/>
          </a:xfrm>
          <a:prstGeom prst="rect">
            <a:avLst/>
          </a:prstGeom>
          <a:solidFill>
            <a:srgbClr val="D6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875520" cy="2011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86B7C"/>
                </a:solidFill>
                <a:latin typeface="DejaVu Sans"/>
              </a:rPr>
              <a:t>Controles 1S2026 · Inventario registrado  ·  8 de octubre de 2026  ·  Control Completo · Dea / Oxigeno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55664"/>
            <a:ext cx="530352" cy="22860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87F7A"/>
                </a:solidFill>
                <a:latin typeface="DejaVu Sans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74519"/>
            <a:ext cx="5321808" cy="1755648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74519"/>
            <a:ext cx="50292" cy="175564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1993391"/>
            <a:ext cx="5010912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2651760"/>
            <a:ext cx="5010912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DEA con control registrado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3145535"/>
            <a:ext cx="5010912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Último control: enero–junio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1874519"/>
            <a:ext cx="5321808" cy="1755648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91072" y="1874519"/>
            <a:ext cx="50292" cy="175564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993391"/>
            <a:ext cx="5010912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651760"/>
            <a:ext cx="5010912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Tubos de oxígeno inventariados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45535"/>
            <a:ext cx="5010912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Equipamiento registrado en la planilla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840480"/>
            <a:ext cx="11064240" cy="521207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922776"/>
            <a:ext cx="3477463" cy="402335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DejaVu Sans"/>
              </a:rPr>
              <a:t>Equipamiento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9567" y="3922776"/>
            <a:ext cx="2039112" cy="402335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DejaVu Sans"/>
              </a:rPr>
              <a:t>Operativos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2415" y="3922776"/>
            <a:ext cx="5026456" cy="402335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DejaVu Sans"/>
              </a:rPr>
              <a:t>Otros estados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361688"/>
            <a:ext cx="11064240" cy="521207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443984"/>
            <a:ext cx="3477463" cy="402335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17324D"/>
                </a:solidFill>
                <a:latin typeface="DejaVu Sans"/>
              </a:rPr>
              <a:t>DEA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09567" y="4443984"/>
            <a:ext cx="2039112" cy="402335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22415" y="4443984"/>
            <a:ext cx="5026456" cy="402335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1 fuera de servicio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882896"/>
            <a:ext cx="11064240" cy="5212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965192"/>
            <a:ext cx="3477463" cy="402335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17324D"/>
                </a:solidFill>
                <a:latin typeface="DejaVu Sans"/>
              </a:rPr>
              <a:t>Tubos de oxígeno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9567" y="4965192"/>
            <a:ext cx="2039112" cy="402335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2415" y="4965192"/>
            <a:ext cx="5026456" cy="402335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1 no operativo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57784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577840"/>
            <a:ext cx="54864" cy="685800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650992"/>
            <a:ext cx="10725912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50" b="0">
                <a:solidFill>
                  <a:srgbClr val="17324D"/>
                </a:solidFill>
                <a:latin typeface="DejaVu Sans"/>
              </a:rPr>
              <a:t>Estado de inventario sin fecha de corte confirmada. La planilla de oxígeno no registra fechas de control.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1064240" cy="29260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87F7A"/>
                </a:solidFill>
                <a:latin typeface="DejaVu Sans"/>
              </a:rPr>
              <a:t>SERVICIO MÉDICO  /  TANDANOR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64240" cy="502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324D"/>
                </a:solidFill>
                <a:latin typeface="DejaVu Sans"/>
              </a:rPr>
              <a:t>Ausentismo médico: dimensión del impacto laboral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71016"/>
            <a:ext cx="11064240" cy="38404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586B7C"/>
                </a:solidFill>
                <a:latin typeface="DejaVu Sans"/>
              </a:rPr>
              <a:t>Enero–junio · Enfermedad + ART / horas teóricas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64224"/>
            <a:ext cx="11064240" cy="11887"/>
          </a:xfrm>
          <a:prstGeom prst="rect">
            <a:avLst/>
          </a:prstGeom>
          <a:solidFill>
            <a:srgbClr val="D6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875520" cy="2011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86B7C"/>
                </a:solidFill>
                <a:latin typeface="DejaVu Sans"/>
              </a:rPr>
              <a:t>Enero–junio 2026  ·  8 de octubre de 2026  ·  Indicadores de ausentismo RRHH · Enero–junio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55664"/>
            <a:ext cx="530352" cy="22860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87F7A"/>
                </a:solidFill>
                <a:latin typeface="DejaVu Sans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2743200" cy="171907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50292" cy="171907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2002536"/>
            <a:ext cx="2432304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4,72%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2660904"/>
            <a:ext cx="2432304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Semestre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3118104"/>
            <a:ext cx="2432304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18.895 horas médicas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822191"/>
            <a:ext cx="2743200" cy="171907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822191"/>
            <a:ext cx="50292" cy="1719072"/>
          </a:xfrm>
          <a:prstGeom prst="rect">
            <a:avLst/>
          </a:prstGeom>
          <a:solidFill>
            <a:srgbClr val="638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941063"/>
            <a:ext cx="2432304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6386A8"/>
                </a:solidFill>
                <a:latin typeface="DejaVu Sans"/>
              </a:rPr>
              <a:t>3,92%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599431"/>
            <a:ext cx="2432304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Semestre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5056631"/>
            <a:ext cx="2432304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15.729 horas médicas</a:t>
            </a:r>
          </a:p>
        </p:txBody>
      </p:sp>
      <p:pic>
        <p:nvPicPr>
          <p:cNvPr id="19" name="Picture 18" descr="ausentis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5032" y="2139847"/>
            <a:ext cx="7909560" cy="3117801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566928" y="5623560"/>
            <a:ext cx="11064240" cy="630936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5623560"/>
            <a:ext cx="54864" cy="630936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5696712"/>
            <a:ext cx="10725912" cy="512063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50" b="0">
                <a:solidFill>
                  <a:srgbClr val="17324D"/>
                </a:solidFill>
                <a:latin typeface="DejaVu Sans"/>
              </a:rPr>
              <a:t>Cambio interanual: +0,795 puntos porcentuales. BP se incluye en enfermedad.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1064240" cy="29260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87F7A"/>
                </a:solidFill>
                <a:latin typeface="DejaVu Sans"/>
              </a:rPr>
              <a:t>SERVICIO MÉDICO  /  TANDANOR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64240" cy="502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324D"/>
                </a:solidFill>
                <a:latin typeface="DejaVu Sans"/>
              </a:rPr>
              <a:t>Siniestralidad ART: comparación de nueve meses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71016"/>
            <a:ext cx="11064240" cy="38404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586B7C"/>
                </a:solidFill>
                <a:latin typeface="DejaVu Sans"/>
              </a:rPr>
              <a:t>Enero–septiembre 2025 frente a enero–septiembre 2026 · Fuente: informes originales de Provincia 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64224"/>
            <a:ext cx="11064240" cy="11887"/>
          </a:xfrm>
          <a:prstGeom prst="rect">
            <a:avLst/>
          </a:prstGeom>
          <a:solidFill>
            <a:srgbClr val="D6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875520" cy="2011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86B7C"/>
                </a:solidFill>
                <a:latin typeface="DejaVu Sans"/>
              </a:rPr>
              <a:t>Siniestralidad · Enero–septiembre  ·  8 de octubre de 2026  ·  Provincia ART · PDF originales / pág.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55664"/>
            <a:ext cx="530352" cy="22860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87F7A"/>
                </a:solidFill>
                <a:latin typeface="DejaVu Sans"/>
              </a:rPr>
              <a:t>11</a:t>
            </a:r>
          </a:p>
        </p:txBody>
      </p:sp>
      <p:pic>
        <p:nvPicPr>
          <p:cNvPr id="9" name="Picture 8" descr="comparativo_portal_9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931072"/>
            <a:ext cx="5586983" cy="344391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556248" y="1901952"/>
            <a:ext cx="5038344" cy="167335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56248" y="1901952"/>
            <a:ext cx="50292" cy="167335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2020824"/>
            <a:ext cx="4727448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82 → 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1696" y="2679192"/>
            <a:ext cx="4727448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Denuncias informadas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11696" y="3090672"/>
            <a:ext cx="4727448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−31,7% interanual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6248" y="3749039"/>
            <a:ext cx="5038344" cy="167335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56248" y="3749039"/>
            <a:ext cx="50292" cy="1673352"/>
          </a:xfrm>
          <a:prstGeom prst="rect">
            <a:avLst/>
          </a:prstGeom>
          <a:solidFill>
            <a:srgbClr val="C98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1696" y="3867911"/>
            <a:ext cx="4727448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C98545"/>
                </a:solidFill>
                <a:latin typeface="DejaVu Sans"/>
              </a:rPr>
              <a:t>16 →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11696" y="4526279"/>
            <a:ext cx="4727448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Rechazos informados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4937759"/>
            <a:ext cx="4727448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19,5% → 44,6% de denuncias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623560"/>
            <a:ext cx="11064240" cy="630936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5623560"/>
            <a:ext cx="54864" cy="630936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5696712"/>
            <a:ext cx="10725912" cy="512063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0">
                <a:solidFill>
                  <a:srgbClr val="17324D"/>
                </a:solidFill>
                <a:latin typeface="DejaVu Sans"/>
              </a:rPr>
              <a:t>Menos denuncias y más rechazos: el comparativo no prueba la causa del cambio.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Gestión del Servicio Médico Tandanor · Resultados 1S2026 y siniestralidad enero–septiembre</dc:title>
  <dc:subject>Datos agregados para Dirección</dc:subject>
  <dc:creator>Servicio Médico Tandanor</dc:creator>
  <cp:keywords>Gestión, ART, RCP, DEA, vacunación, datos agregados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
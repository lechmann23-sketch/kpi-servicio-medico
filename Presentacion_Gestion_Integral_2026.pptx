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presentan resultados de enero–junio. Las diapositivas 10 a 12 contienen exclusivamente el comparativo de siniestralidad enero–septiembre, solicitado por la responsable. No se incorporan programas implementados después del primer semestre.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actuaciones no son personas únicas. BP es presencia administrativa dentro del semestre. Los 13 rechazos corresponden a la cohorte de casos iniciados en 1S y al texto visible, no a 13 decisiones fechadas en ese período. Botiquines: la última revisión disponible está fechada en 1S. Vacunas y asistencia a RCP/DEA confirmadas por la responsable; aplicaciones no equivalen a cobertura.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Volumen por fecha real. 947 enfermería, 348 médica, 1238 administrativa y 9 sin clasificar. Los 80 registros de contratistas corresponden a otra población. Se conservan siete duplicados exactos en la lectura base; escenario sin duplicados 2535. No se infiere productividad sin tiempos profesionales.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BP: 38 episodios administrativos, 32 personas, arrastre8 + inicios30 − altas23 = activos15. ART: 32 episodios, 30 personas, arrastre4 + inicios28 − altas26 = activos6. BP une intervalos administrativos contiguos o superpuestos por persona. ART no une intervalos; deduplica por persona, inicio, contingencia y diagnóstico. Las altas son cierres administrativos.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19 inicios/9 menciones de rechazo; AI8/3; EP1/1. La categoría es mención documental actual del rechazo en casos iniciados1S, no resolución en1S. Sin mención explícita no equivale a aceptación. No se infieren motivos desde diagnósticos. EP tiene un solo caso y no sustenta un patrón.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Clasificación de texto en grupos amplios. 832 de1295 registros clínicos clasificables; 463 sin grupo único. Global: musculoesqueléticos239, digestivos148, respiratorios/ORL122, oculares95, neurológicos/cefalea84. Una persona puede consultar varias veces. No es prevalencia ni diagnóstico definitivo y no se infiere origen laboral. Los grupos presentados superan cinco personas estimadas.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Sector consignado en cada consulta. Selección por volumen de registros clínicos entre sectores publicables. Se presentan grupos amplios y cantidades de registros; no personas enfermas. Celdas con menos de cinco personas estimadas quedan fuera de la desagregación. El grupo predominante es el más frecuente publicable; no se supone cero en los grupos ocultos ni causalidad ocupacional.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Responsable confirma 200 aplicaciones de vacunas y capacitación RCP/DEA realizada con20 asistentes. No se calcula cobertura a partir de aplicaciones. 35 botiquines tienen su última revisión registrada entre enero y junio, no35 visitas de planta ni cumplimiento de programa. No se usa el estado más actual de equipos para afirmar disponibilidad histórica1S.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Semestre2026:18895h médicas/400632h teóricas=4.7163%;2025:15729/401112=3.92135%. Cambio exacto0.79495pp, se muestra+0.795pp. BP está incluido en enfermedad; no se añade. Ratios de sumas, no promedio de porcentajes mensuales. La serie contextualiza carga y no establece causalidad del Servicio Médico.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informes originales de ProvinciaART informan82denuncias2025 y56en2026,16y25rechazos; gráficos norechazados66y31. Reducción denuncias31.7%, aumento rechazos56.25%, participación16/82=19.5% a25/56=44.6%. No se atribuye causalidad a gestión médica. Las frecuencias siniestral y judicial son12meses y no se usan como tasas9meses.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Planilla39inicios válidos (23AT12AI4EP),14menciones rechazo (9AT3AI2EP). Sin mención25 no aceptados confirmados. No existen fechas completas de resolución para todos. PDFART56denuncias25rechazos no muestra rechazos porcontingencia;16AT9AI6EP corresponde a norechazadosgráfico, nunca a rechazos. Diferencias56−39 y25−14 son agregadas, no casos faltantes identificados.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Planilla mide inicios por BAJA; portal denuncias segúncriterioART.39vs56y14vs25 son diferenciasagregadas, no17omisioneso11rechazosomitidos. Casosgraves2a4 yrecaídas3a8 enportal. Gráficosnorechazados66/31 frente tablasmensuales63/23. Deltas3/8 coincidenrecaídas3/8, hipótesis no explicitada porPDF. Frecuenciasportal12meses no comparables contasa9meses. No se publica informaciónnominal de rankingshistoricos.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1064240" cy="29260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087F7A"/>
                </a:solidFill>
                <a:latin typeface="DejaVu Sans"/>
              </a:rPr>
              <a:t>SERVICIO MÉDICO  /  TANDANOR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0292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900" b="1">
                <a:solidFill>
                  <a:srgbClr val="17324D"/>
                </a:solidFill>
                <a:latin typeface="DejaVu Sans"/>
              </a:rPr>
              <a:t>Gestión del Servicio Médico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1064240" cy="38404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586B7C"/>
                </a:solidFill>
                <a:latin typeface="DejaVu Sans"/>
              </a:rPr>
              <a:t>Resultados realizados del primer semestre · Presentación para Dirección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64224"/>
            <a:ext cx="11064240" cy="11887"/>
          </a:xfrm>
          <a:prstGeom prst="rect">
            <a:avLst/>
          </a:prstGeom>
          <a:solidFill>
            <a:srgbClr val="D6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9875520" cy="20116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586B7C"/>
                </a:solidFill>
                <a:latin typeface="DejaVu Sans"/>
              </a:rPr>
              <a:t>Enero–junio 2026  ·  8 de octubre de 2026  ·  Planilla actualizada y registros de gestión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530352" cy="22860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87F7A"/>
                </a:solidFill>
                <a:latin typeface="DejaVu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74519"/>
            <a:ext cx="11064240" cy="93268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7324D"/>
                </a:solidFill>
                <a:latin typeface="DejaVu Sans"/>
              </a:rPr>
              <a:t>Asistencia, seguimiento y prevención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99232"/>
            <a:ext cx="10881360" cy="107899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0">
                <a:solidFill>
                  <a:srgbClr val="586B7C"/>
                </a:solidFill>
                <a:latin typeface="DejaVu Sans"/>
              </a:rPr>
              <a:t>Actividad asistencial, seguimiento de casos y acciones preventivas realizadas.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471416"/>
            <a:ext cx="3474720" cy="1627632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471416"/>
            <a:ext cx="50292" cy="1627632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4590288"/>
            <a:ext cx="3163824" cy="557784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500" b="1">
                <a:solidFill>
                  <a:srgbClr val="087F7A"/>
                </a:solidFill>
                <a:latin typeface="DejaVu Sans"/>
              </a:rPr>
              <a:t>2.542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5248655"/>
            <a:ext cx="3163824" cy="6400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DejaVu Sans"/>
              </a:rPr>
              <a:t>Actuaciones propias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5614416"/>
            <a:ext cx="3163824" cy="4114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86B7C"/>
                </a:solidFill>
                <a:latin typeface="DejaVu Sans"/>
              </a:rPr>
              <a:t>Medicina, enfermería y gestión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4471416"/>
            <a:ext cx="3474720" cy="1627632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1688" y="4471416"/>
            <a:ext cx="50292" cy="1627632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7136" y="4590288"/>
            <a:ext cx="3163824" cy="557784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500" b="1">
                <a:solidFill>
                  <a:srgbClr val="087F7A"/>
                </a:solidFill>
                <a:latin typeface="DejaVu Sans"/>
              </a:rPr>
              <a:t>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5248655"/>
            <a:ext cx="3163824" cy="6400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DejaVu Sans"/>
              </a:rPr>
              <a:t>Vacunas aplicadas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5614416"/>
            <a:ext cx="3163824" cy="4114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86B7C"/>
                </a:solidFill>
                <a:latin typeface="DejaVu Sans"/>
              </a:rPr>
              <a:t>Total confirmado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6448" y="4471416"/>
            <a:ext cx="3474720" cy="1627632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56448" y="4471416"/>
            <a:ext cx="50292" cy="1627632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4590288"/>
            <a:ext cx="3163824" cy="557784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500" b="1">
                <a:solidFill>
                  <a:srgbClr val="087F7A"/>
                </a:solidFill>
                <a:latin typeface="DejaVu Sans"/>
              </a:rP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5248655"/>
            <a:ext cx="3163824" cy="6400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DejaVu Sans"/>
              </a:rPr>
              <a:t>Asistentes RCP y DEA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5614416"/>
            <a:ext cx="3163824" cy="4114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86B7C"/>
                </a:solidFill>
                <a:latin typeface="DejaVu Sans"/>
              </a:rPr>
              <a:t>Capacitación realizada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1064240" cy="29260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087F7A"/>
                </a:solidFill>
                <a:latin typeface="DejaVu Sans"/>
              </a:rPr>
              <a:t>SERVICIO MÉDICO  /  TANDANOR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0292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900" b="1">
                <a:solidFill>
                  <a:srgbClr val="17324D"/>
                </a:solidFill>
                <a:latin typeface="DejaVu Sans"/>
              </a:rPr>
              <a:t>Ocho resultados que sintetizan la gestión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1064240" cy="38404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586B7C"/>
                </a:solidFill>
                <a:latin typeface="DejaVu Sans"/>
              </a:rPr>
              <a:t>Actividad, casos y prevención · Unidades distintas, sin sumar entre dimensiones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64224"/>
            <a:ext cx="11064240" cy="11887"/>
          </a:xfrm>
          <a:prstGeom prst="rect">
            <a:avLst/>
          </a:prstGeom>
          <a:solidFill>
            <a:srgbClr val="D6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9875520" cy="20116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586B7C"/>
                </a:solidFill>
                <a:latin typeface="DejaVu Sans"/>
              </a:rPr>
              <a:t>Enero–junio 2026  ·  8 de octubre de 2026  ·  Planilla / Control Completo / confirmaciones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530352" cy="22860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87F7A"/>
                </a:solidFill>
                <a:latin typeface="DejaVu San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2587752" cy="1810512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50292" cy="1810512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2002536"/>
            <a:ext cx="2276856" cy="557784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500" b="1">
                <a:solidFill>
                  <a:srgbClr val="087F7A"/>
                </a:solidFill>
                <a:latin typeface="DejaVu Sans"/>
              </a:rPr>
              <a:t>2.542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660904"/>
            <a:ext cx="2276856" cy="6400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DejaVu Sans"/>
              </a:rPr>
              <a:t>Actuaciones propias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3209544"/>
            <a:ext cx="2276856" cy="4114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86B7C"/>
                </a:solidFill>
                <a:latin typeface="DejaVu Sans"/>
              </a:rPr>
              <a:t>Actividad documentada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2424" y="1883664"/>
            <a:ext cx="2587752" cy="1810512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2424" y="1883664"/>
            <a:ext cx="50292" cy="1810512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2002536"/>
            <a:ext cx="2276856" cy="557784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500" b="1">
                <a:solidFill>
                  <a:srgbClr val="087F7A"/>
                </a:solidFill>
                <a:latin typeface="DejaVu Sans"/>
              </a:rPr>
              <a:t>1.295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660904"/>
            <a:ext cx="2276856" cy="6400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DejaVu Sans"/>
              </a:rPr>
              <a:t>Registros clínicos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209544"/>
            <a:ext cx="2276856" cy="4114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86B7C"/>
                </a:solidFill>
                <a:latin typeface="DejaVu Sans"/>
              </a:rPr>
              <a:t>Medicina + enfermería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883664"/>
            <a:ext cx="2587752" cy="1810512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883664"/>
            <a:ext cx="50292" cy="1810512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2002536"/>
            <a:ext cx="2276856" cy="557784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500" b="1">
                <a:solidFill>
                  <a:srgbClr val="087F7A"/>
                </a:solidFill>
                <a:latin typeface="DejaVu Sans"/>
              </a:rPr>
              <a:t>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2660904"/>
            <a:ext cx="2276856" cy="6400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DejaVu Sans"/>
              </a:rPr>
              <a:t>Vacunas aplicadas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209544"/>
            <a:ext cx="2276856" cy="4114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86B7C"/>
                </a:solidFill>
                <a:latin typeface="DejaVu Sans"/>
              </a:rPr>
              <a:t>Total confirmado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5" y="1883664"/>
            <a:ext cx="2587752" cy="1810512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43415" y="1883664"/>
            <a:ext cx="50292" cy="1810512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98863" y="2002536"/>
            <a:ext cx="2276856" cy="557784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500" b="1">
                <a:solidFill>
                  <a:srgbClr val="087F7A"/>
                </a:solidFill>
                <a:latin typeface="DejaVu Sans"/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8863" y="2660904"/>
            <a:ext cx="2276856" cy="6400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DejaVu Sans"/>
              </a:rPr>
              <a:t>Asistentes RCP / DEA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8863" y="3209544"/>
            <a:ext cx="2276856" cy="4114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86B7C"/>
                </a:solidFill>
                <a:latin typeface="DejaVu Sans"/>
              </a:rPr>
              <a:t>Actividad realizada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931920"/>
            <a:ext cx="2587752" cy="1810512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3931920"/>
            <a:ext cx="50292" cy="1810512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4050792"/>
            <a:ext cx="2276856" cy="557784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500" b="1">
                <a:solidFill>
                  <a:srgbClr val="087F7A"/>
                </a:solidFill>
                <a:latin typeface="DejaVu Sans"/>
              </a:rPr>
              <a:t>38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4709160"/>
            <a:ext cx="2276856" cy="6400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DejaVu Sans"/>
              </a:rPr>
              <a:t>Episodios BP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5257800"/>
            <a:ext cx="2276856" cy="4114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86B7C"/>
                </a:solidFill>
                <a:latin typeface="DejaVu Sans"/>
              </a:rPr>
              <a:t>Con presencia en 1S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92424" y="3931920"/>
            <a:ext cx="2587752" cy="1810512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92424" y="3931920"/>
            <a:ext cx="50292" cy="1810512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47872" y="4050792"/>
            <a:ext cx="2276856" cy="557784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500" b="1">
                <a:solidFill>
                  <a:srgbClr val="087F7A"/>
                </a:solidFill>
                <a:latin typeface="DejaVu Sans"/>
              </a:rPr>
              <a:t>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47872" y="4709160"/>
            <a:ext cx="2276856" cy="6400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DejaVu Sans"/>
              </a:rPr>
              <a:t>Inicios 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5257800"/>
            <a:ext cx="2276856" cy="4114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86B7C"/>
                </a:solidFill>
                <a:latin typeface="DejaVu Sans"/>
              </a:rPr>
              <a:t>19 AT · 8 AI · 1 EP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931920"/>
            <a:ext cx="2587752" cy="1810512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3931920"/>
            <a:ext cx="50292" cy="1810512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73368" y="4050792"/>
            <a:ext cx="2276856" cy="557784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500" b="1">
                <a:solidFill>
                  <a:srgbClr val="087F7A"/>
                </a:solidFill>
                <a:latin typeface="DejaVu Sans"/>
              </a:rP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4709160"/>
            <a:ext cx="2276856" cy="6400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DejaVu Sans"/>
              </a:rPr>
              <a:t>Rechazos consignados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3368" y="5257800"/>
            <a:ext cx="2276856" cy="4114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86B7C"/>
                </a:solidFill>
                <a:latin typeface="DejaVu Sans"/>
              </a:rPr>
              <a:t>9 AT · 3 AI · 1 EP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43415" y="3931920"/>
            <a:ext cx="2587752" cy="1810512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43415" y="3931920"/>
            <a:ext cx="50292" cy="1810512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98863" y="4050792"/>
            <a:ext cx="2276856" cy="557784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500" b="1">
                <a:solidFill>
                  <a:srgbClr val="087F7A"/>
                </a:solidFill>
                <a:latin typeface="DejaVu Sans"/>
              </a:rPr>
              <a:t>35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98863" y="4709160"/>
            <a:ext cx="2276856" cy="6400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DejaVu Sans"/>
              </a:rPr>
              <a:t>Botiquines revisados*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98863" y="5257800"/>
            <a:ext cx="2276856" cy="4114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86B7C"/>
                </a:solidFill>
                <a:latin typeface="DejaVu Sans"/>
              </a:rPr>
              <a:t>Revisión fechada en 1S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6016752"/>
            <a:ext cx="11064240" cy="32004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86B7C"/>
                </a:solidFill>
                <a:latin typeface="DejaVu Sans"/>
              </a:rPr>
              <a:t>*Evidencia de revisión registrada; no equivale a cumplimiento de un programa.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1064240" cy="29260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087F7A"/>
                </a:solidFill>
                <a:latin typeface="DejaVu Sans"/>
              </a:rPr>
              <a:t>SERVICIO MÉDICO  /  TANDANOR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0292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900" b="1">
                <a:solidFill>
                  <a:srgbClr val="17324D"/>
                </a:solidFill>
                <a:latin typeface="DejaVu Sans"/>
              </a:rPr>
              <a:t>La actividad combina asistencia y gestión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1064240" cy="38404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586B7C"/>
                </a:solidFill>
                <a:latin typeface="DejaVu Sans"/>
              </a:rPr>
              <a:t>2.542 actuaciones propias + 80 registros de contratistas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64224"/>
            <a:ext cx="11064240" cy="11887"/>
          </a:xfrm>
          <a:prstGeom prst="rect">
            <a:avLst/>
          </a:prstGeom>
          <a:solidFill>
            <a:srgbClr val="D6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9875520" cy="20116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586B7C"/>
                </a:solidFill>
                <a:latin typeface="DejaVu Sans"/>
              </a:rPr>
              <a:t>Enero–junio 2026  ·  8 de octubre de 2026  ·  Planilla Tandanor · AT. DIARIAS / CONTRATISTAS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530352" cy="22860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87F7A"/>
                </a:solidFill>
                <a:latin typeface="DejaVu Sans"/>
              </a:rPr>
              <a:t>03</a:t>
            </a:r>
          </a:p>
        </p:txBody>
      </p:sp>
      <p:pic>
        <p:nvPicPr>
          <p:cNvPr id="9" name="Picture 8" descr="activ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55776"/>
            <a:ext cx="7424927" cy="31042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0" y="2157984"/>
            <a:ext cx="3127248" cy="557784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700" b="1">
                <a:solidFill>
                  <a:srgbClr val="087F7A"/>
                </a:solidFill>
                <a:latin typeface="DejaVu Sans"/>
              </a:rPr>
              <a:t>1.295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779776"/>
            <a:ext cx="3127248" cy="79552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7324D"/>
                </a:solidFill>
                <a:latin typeface="DejaVu Sans"/>
              </a:rPr>
              <a:t>registros clínicos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593592"/>
            <a:ext cx="256032" cy="53035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087F7A"/>
                </a:solidFill>
                <a:latin typeface="DejaVu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3593592"/>
            <a:ext cx="2889504" cy="53035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947 de enfermería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187952"/>
            <a:ext cx="256032" cy="53035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087F7A"/>
                </a:solidFill>
                <a:latin typeface="DejaVu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4187952"/>
            <a:ext cx="2889504" cy="53035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348 médicos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782312"/>
            <a:ext cx="256032" cy="53035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087F7A"/>
                </a:solidFill>
                <a:latin typeface="DejaVu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4782312"/>
            <a:ext cx="2889504" cy="53035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1.238 admin.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623560"/>
            <a:ext cx="11064240" cy="630936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5623560"/>
            <a:ext cx="54864" cy="630936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5696712"/>
            <a:ext cx="10725912" cy="512063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50" b="0">
                <a:solidFill>
                  <a:srgbClr val="17324D"/>
                </a:solidFill>
                <a:latin typeface="DejaVu Sans"/>
              </a:rPr>
              <a:t>Una persona puede generar varias actuaciones: los registros expresan demanda atendida.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1064240" cy="29260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087F7A"/>
                </a:solidFill>
                <a:latin typeface="DejaVu Sans"/>
              </a:rPr>
              <a:t>SERVICIO MÉDICO  /  TANDANOR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0292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900" b="1">
                <a:solidFill>
                  <a:srgbClr val="17324D"/>
                </a:solidFill>
                <a:latin typeface="DejaVu Sans"/>
              </a:rPr>
              <a:t>Seguimiento de BP y 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1064240" cy="38404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586B7C"/>
                </a:solidFill>
                <a:latin typeface="DejaVu Sans"/>
              </a:rPr>
              <a:t>Flujo administrativo del semestre y situación inferida al 30 de junio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64224"/>
            <a:ext cx="11064240" cy="11887"/>
          </a:xfrm>
          <a:prstGeom prst="rect">
            <a:avLst/>
          </a:prstGeom>
          <a:solidFill>
            <a:srgbClr val="D6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9875520" cy="20116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586B7C"/>
                </a:solidFill>
                <a:latin typeface="DejaVu Sans"/>
              </a:rPr>
              <a:t>Enero–junio 2026  ·  8 de octubre de 2026  ·  Planilla Tandanor · BP / 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530352" cy="22860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87F7A"/>
                </a:solidFill>
                <a:latin typeface="DejaVu Sans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28800"/>
            <a:ext cx="7370064" cy="6858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11095"/>
            <a:ext cx="4395703" cy="56692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DejaVu Sans"/>
              </a:rPr>
              <a:t>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7807" y="1911095"/>
            <a:ext cx="1226576" cy="56692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DejaVu Sans"/>
              </a:rPr>
              <a:t>BP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8119" y="1911095"/>
            <a:ext cx="1226576" cy="56692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DejaVu Sans"/>
              </a:rPr>
              <a:t>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514600"/>
            <a:ext cx="7370064" cy="68580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96896"/>
            <a:ext cx="4395703" cy="56692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7324D"/>
                </a:solidFill>
                <a:latin typeface="DejaVu Sans"/>
              </a:rPr>
              <a:t>Arrastre al 01/01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7807" y="2596896"/>
            <a:ext cx="1226576" cy="56692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8119" y="2596896"/>
            <a:ext cx="1226576" cy="56692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200400"/>
            <a:ext cx="7370064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282696"/>
            <a:ext cx="4395703" cy="56692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7324D"/>
                </a:solidFill>
                <a:latin typeface="DejaVu Sans"/>
              </a:rPr>
              <a:t>Inicios en el semestre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7807" y="3282696"/>
            <a:ext cx="1226576" cy="56692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8119" y="3282696"/>
            <a:ext cx="1226576" cy="56692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28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886200"/>
            <a:ext cx="7370064" cy="68580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968496"/>
            <a:ext cx="4395703" cy="56692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7324D"/>
                </a:solidFill>
                <a:latin typeface="DejaVu Sans"/>
              </a:rPr>
              <a:t>Altas registradas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7807" y="3968496"/>
            <a:ext cx="1226576" cy="56692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8119" y="3968496"/>
            <a:ext cx="1226576" cy="56692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572000"/>
            <a:ext cx="7370064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654296"/>
            <a:ext cx="4395703" cy="56692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7324D"/>
                </a:solidFill>
                <a:latin typeface="DejaVu Sans"/>
              </a:rPr>
              <a:t>Activos al 30/06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27807" y="4654296"/>
            <a:ext cx="1226576" cy="56692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8119" y="4654296"/>
            <a:ext cx="1226576" cy="56692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47888" y="1828800"/>
            <a:ext cx="3383280" cy="3429000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0768" y="2066543"/>
            <a:ext cx="2971800" cy="59436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87F7A"/>
                </a:solidFill>
                <a:latin typeface="DejaVu Sans"/>
              </a:rPr>
              <a:t>Seguimiento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2889504"/>
            <a:ext cx="2971800" cy="202996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Se distinguen ingresos, cierres y episodios activos.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623560"/>
            <a:ext cx="11064240" cy="630936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5623560"/>
            <a:ext cx="54864" cy="630936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696712"/>
            <a:ext cx="10725912" cy="512063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50" b="0">
                <a:solidFill>
                  <a:srgbClr val="17324D"/>
                </a:solidFill>
                <a:latin typeface="DejaVu Sans"/>
              </a:rPr>
              <a:t>Las altas son cierres administrativos; no miden por sí solas éxito terapéutico.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1064240" cy="29260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087F7A"/>
                </a:solidFill>
                <a:latin typeface="DejaVu Sans"/>
              </a:rPr>
              <a:t>SERVICIO MÉDICO  /  TANDANOR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0292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900" b="1">
                <a:solidFill>
                  <a:srgbClr val="17324D"/>
                </a:solidFill>
                <a:latin typeface="DejaVu Sans"/>
              </a:rPr>
              <a:t>ART: rechazos identificados por contingencia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1064240" cy="38404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586B7C"/>
                </a:solidFill>
                <a:latin typeface="DejaVu Sans"/>
              </a:rPr>
              <a:t>13 rechazos consignados entre 28 casos con inicio en enero–junio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64224"/>
            <a:ext cx="11064240" cy="11887"/>
          </a:xfrm>
          <a:prstGeom prst="rect">
            <a:avLst/>
          </a:prstGeom>
          <a:solidFill>
            <a:srgbClr val="D6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9875520" cy="20116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586B7C"/>
                </a:solidFill>
                <a:latin typeface="DejaVu Sans"/>
              </a:rPr>
              <a:t>Enero–junio 2026  ·  8 de octubre de 2026  ·  Planilla Tandanor · 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530352" cy="22860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87F7A"/>
                </a:solidFill>
                <a:latin typeface="DejaVu San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3474720" cy="1691640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50292" cy="1691640"/>
          </a:xfrm>
          <a:prstGeom prst="rect">
            <a:avLst/>
          </a:prstGeom>
          <a:solidFill>
            <a:srgbClr val="C98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993391"/>
            <a:ext cx="3163824" cy="557784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500" b="1">
                <a:solidFill>
                  <a:srgbClr val="C98545"/>
                </a:solidFill>
                <a:latin typeface="DejaVu Sans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651760"/>
            <a:ext cx="3163824" cy="6400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DejaVu Sans"/>
              </a:rPr>
              <a:t>AT · Trabajo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3081528"/>
            <a:ext cx="3163824" cy="4114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86B7C"/>
                </a:solidFill>
                <a:latin typeface="DejaVu Sans"/>
              </a:rPr>
              <a:t>19 casos iniciados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1874519"/>
            <a:ext cx="3474720" cy="1691640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1874519"/>
            <a:ext cx="50292" cy="1691640"/>
          </a:xfrm>
          <a:prstGeom prst="rect">
            <a:avLst/>
          </a:prstGeom>
          <a:solidFill>
            <a:srgbClr val="C98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1993391"/>
            <a:ext cx="3163824" cy="557784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500" b="1">
                <a:solidFill>
                  <a:srgbClr val="C98545"/>
                </a:solidFill>
                <a:latin typeface="DejaVu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651760"/>
            <a:ext cx="3163824" cy="6400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DejaVu Sans"/>
              </a:rPr>
              <a:t>AI · In itinere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3081528"/>
            <a:ext cx="3163824" cy="4114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86B7C"/>
                </a:solidFill>
                <a:latin typeface="DejaVu Sans"/>
              </a:rPr>
              <a:t>8 casos iniciados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6448" y="1874519"/>
            <a:ext cx="3474720" cy="1691640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6448" y="1874519"/>
            <a:ext cx="50292" cy="1691640"/>
          </a:xfrm>
          <a:prstGeom prst="rect">
            <a:avLst/>
          </a:prstGeom>
          <a:solidFill>
            <a:srgbClr val="C98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1993391"/>
            <a:ext cx="3163824" cy="557784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500" b="1">
                <a:solidFill>
                  <a:srgbClr val="C98545"/>
                </a:solidFill>
                <a:latin typeface="DejaVu San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2651760"/>
            <a:ext cx="3163824" cy="6400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DejaVu Sans"/>
              </a:rPr>
              <a:t>EP · Profesional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3081528"/>
            <a:ext cx="3163824" cy="4114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86B7C"/>
                </a:solidFill>
                <a:latin typeface="DejaVu Sans"/>
              </a:rPr>
              <a:t>1 caso iniciado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840480"/>
            <a:ext cx="256032" cy="493776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087F7A"/>
                </a:solidFill>
                <a:latin typeface="DejaVu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40480"/>
            <a:ext cx="10643615" cy="493776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AT reúne 9 de las 13 menciones de rechazo.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398264"/>
            <a:ext cx="256032" cy="493776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087F7A"/>
                </a:solidFill>
                <a:latin typeface="DejaVu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398264"/>
            <a:ext cx="10643615" cy="493776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El seguimiento propio permite diferenciar AT, AI y EP.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956048"/>
            <a:ext cx="256032" cy="493776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087F7A"/>
                </a:solidFill>
                <a:latin typeface="DejaVu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56048"/>
            <a:ext cx="10643615" cy="493776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La falta de mención de rechazo no acredita aceptación.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623560"/>
            <a:ext cx="11064240" cy="630936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623560"/>
            <a:ext cx="54864" cy="630936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696712"/>
            <a:ext cx="10725912" cy="512063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50" b="0">
                <a:solidFill>
                  <a:srgbClr val="17324D"/>
                </a:solidFill>
                <a:latin typeface="DejaVu Sans"/>
              </a:rPr>
              <a:t>Rechazos consignados en casos iniciados en 1S; no todas las resoluciones tienen fecha.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1064240" cy="29260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087F7A"/>
                </a:solidFill>
                <a:latin typeface="DejaVu Sans"/>
              </a:rPr>
              <a:t>SERVICIO MÉDICO  /  TANDANOR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0292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900" b="1">
                <a:solidFill>
                  <a:srgbClr val="17324D"/>
                </a:solidFill>
                <a:latin typeface="DejaVu Sans"/>
              </a:rPr>
              <a:t>Qué tipos de consultas atiende el servicio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1064240" cy="38404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586B7C"/>
                </a:solidFill>
                <a:latin typeface="DejaVu Sans"/>
              </a:rPr>
              <a:t>832 registros con un grupo clínico clasificable entre 1.295 registros clínicos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64224"/>
            <a:ext cx="11064240" cy="11887"/>
          </a:xfrm>
          <a:prstGeom prst="rect">
            <a:avLst/>
          </a:prstGeom>
          <a:solidFill>
            <a:srgbClr val="D6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9875520" cy="20116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586B7C"/>
                </a:solidFill>
                <a:latin typeface="DejaVu Sans"/>
              </a:rPr>
              <a:t>Enero–junio 2026  ·  8 de octubre de 2026  ·  Planilla Tandanor · AT. DIARIAS / CONSULTA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530352" cy="22860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87F7A"/>
                </a:solidFill>
                <a:latin typeface="DejaVu Sans"/>
              </a:rPr>
              <a:t>06</a:t>
            </a:r>
          </a:p>
        </p:txBody>
      </p:sp>
      <p:pic>
        <p:nvPicPr>
          <p:cNvPr id="9" name="Picture 8" descr="grupos_clinic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53881"/>
            <a:ext cx="8522208" cy="33617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45168" y="2377440"/>
            <a:ext cx="2176272" cy="57607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087F7A"/>
                </a:solidFill>
                <a:latin typeface="DejaVu Sans"/>
              </a:rPr>
              <a:t>61,2%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45168" y="3172968"/>
            <a:ext cx="2176272" cy="164592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en los tres grupos más frecuentes.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623560"/>
            <a:ext cx="11064240" cy="630936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5623560"/>
            <a:ext cx="54864" cy="630936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696712"/>
            <a:ext cx="10725912" cy="512063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50" b="0">
                <a:solidFill>
                  <a:srgbClr val="17324D"/>
                </a:solidFill>
                <a:latin typeface="DejaVu Sans"/>
              </a:rPr>
              <a:t>Distribución de motivos registrados: no demuestra diagnóstico definitivo ni origen laboral.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1064240" cy="29260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087F7A"/>
                </a:solidFill>
                <a:latin typeface="DejaVu Sans"/>
              </a:rPr>
              <a:t>SERVICIO MÉDICO  /  TANDANOR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0292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900" b="1">
                <a:solidFill>
                  <a:srgbClr val="17324D"/>
                </a:solidFill>
                <a:latin typeface="DejaVu Sans"/>
              </a:rPr>
              <a:t>Grupos clínicos frecuentes por sector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1064240" cy="38404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586B7C"/>
                </a:solidFill>
                <a:latin typeface="DejaVu Sans"/>
              </a:rPr>
              <a:t>Seis sectores con mayor volumen clínico · Cada celda publicada reúne al menos cinco personas estimadas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64224"/>
            <a:ext cx="11064240" cy="11887"/>
          </a:xfrm>
          <a:prstGeom prst="rect">
            <a:avLst/>
          </a:prstGeom>
          <a:solidFill>
            <a:srgbClr val="D6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9875520" cy="20116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586B7C"/>
                </a:solidFill>
                <a:latin typeface="DejaVu Sans"/>
              </a:rPr>
              <a:t>Enero–junio 2026  ·  8 de octubre de 2026  ·  Planilla Tandanor · DEPARTAMENTO / CONSULTA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530352" cy="22860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87F7A"/>
                </a:solidFill>
                <a:latin typeface="DejaVu Sans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47088"/>
            <a:ext cx="11064240" cy="48920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29384"/>
            <a:ext cx="3145536" cy="37033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DejaVu Sans"/>
              </a:rPr>
              <a:t>Sector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929384"/>
            <a:ext cx="5690311" cy="37033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DejaVu Sans"/>
              </a:rPr>
              <a:t>Grupo predominante publicable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41687" y="1929384"/>
            <a:ext cx="1707184" cy="37033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DejaVu Sans"/>
              </a:rPr>
              <a:t>Registros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336292"/>
            <a:ext cx="11064240" cy="489204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18588"/>
            <a:ext cx="3145536" cy="37033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17324D"/>
                </a:solidFill>
                <a:latin typeface="DejaVu Sans"/>
              </a:rPr>
              <a:t>Casco Y Acero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418588"/>
            <a:ext cx="5690311" cy="37033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17324D"/>
                </a:solidFill>
                <a:latin typeface="DejaVu Sans"/>
              </a:rPr>
              <a:t>Musculoesqueléticos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41687" y="2418588"/>
            <a:ext cx="1707184" cy="37033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17324D"/>
                </a:solidFill>
                <a:latin typeface="DejaVu Sans"/>
              </a:rPr>
              <a:t>58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825496"/>
            <a:ext cx="11064240" cy="4892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907791"/>
            <a:ext cx="3145536" cy="37033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17324D"/>
                </a:solidFill>
                <a:latin typeface="DejaVu Sans"/>
              </a:rPr>
              <a:t>Mecánica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2907791"/>
            <a:ext cx="5690311" cy="37033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17324D"/>
                </a:solidFill>
                <a:latin typeface="DejaVu Sans"/>
              </a:rPr>
              <a:t>Respiratorios / ORL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41687" y="2907791"/>
            <a:ext cx="1707184" cy="37033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17324D"/>
                </a:solidFill>
                <a:latin typeface="DejaVu Sans"/>
              </a:rPr>
              <a:t>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314700"/>
            <a:ext cx="11064240" cy="489204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396996"/>
            <a:ext cx="3145536" cy="37033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17324D"/>
                </a:solidFill>
                <a:latin typeface="DejaVu Sans"/>
              </a:rPr>
              <a:t>Carenado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3396996"/>
            <a:ext cx="5690311" cy="37033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17324D"/>
                </a:solidFill>
                <a:latin typeface="DejaVu Sans"/>
              </a:rPr>
              <a:t>Musculoesqueléticos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1687" y="3396996"/>
            <a:ext cx="1707184" cy="37033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17324D"/>
                </a:solidFill>
                <a:latin typeface="DejaVu Sans"/>
              </a:rPr>
              <a:t>19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803904"/>
            <a:ext cx="11064240" cy="4892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886200"/>
            <a:ext cx="3145536" cy="37033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17324D"/>
                </a:solidFill>
                <a:latin typeface="DejaVu Sans"/>
              </a:rPr>
              <a:t>Syncrolift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3886200"/>
            <a:ext cx="5690311" cy="37033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17324D"/>
                </a:solidFill>
                <a:latin typeface="DejaVu Sans"/>
              </a:rPr>
              <a:t>Musculoesqueléticos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1687" y="3886200"/>
            <a:ext cx="1707184" cy="37033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17324D"/>
                </a:solidFill>
                <a:latin typeface="DejaVu Sans"/>
              </a:rPr>
              <a:t>28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293108"/>
            <a:ext cx="11064240" cy="489204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375404"/>
            <a:ext cx="3145536" cy="37033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17324D"/>
                </a:solidFill>
                <a:latin typeface="DejaVu Sans"/>
              </a:rPr>
              <a:t>Serv. generales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39" y="4375404"/>
            <a:ext cx="5690311" cy="37033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17324D"/>
                </a:solidFill>
                <a:latin typeface="DejaVu Sans"/>
              </a:rPr>
              <a:t>Musculoesqueléticos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1687" y="4375404"/>
            <a:ext cx="1707184" cy="37033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17324D"/>
                </a:solidFill>
                <a:latin typeface="DejaVu Sans"/>
              </a:rPr>
              <a:t>31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782312"/>
            <a:ext cx="11064240" cy="4892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4864608"/>
            <a:ext cx="3145536" cy="37033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17324D"/>
                </a:solidFill>
                <a:latin typeface="DejaVu Sans"/>
              </a:rPr>
              <a:t>Capital Humano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4864608"/>
            <a:ext cx="5690311" cy="37033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17324D"/>
                </a:solidFill>
                <a:latin typeface="DejaVu Sans"/>
              </a:rPr>
              <a:t>Musculoesqueléticos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41687" y="4864608"/>
            <a:ext cx="1707184" cy="37033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17324D"/>
                </a:solidFill>
                <a:latin typeface="DejaVu Sans"/>
              </a:rPr>
              <a:t>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5422392"/>
            <a:ext cx="10789920" cy="59436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Casco y Acero también registra 38 motivos oculares.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053328"/>
            <a:ext cx="11064240" cy="237744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86B7C"/>
                </a:solidFill>
                <a:latin typeface="DejaVu Sans"/>
              </a:rPr>
              <a:t>Cantidades de registros, sin nombres ni legajos. No se publican celdas pequeñas.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1064240" cy="29260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087F7A"/>
                </a:solidFill>
                <a:latin typeface="DejaVu Sans"/>
              </a:rPr>
              <a:t>SERVICIO MÉDICO  /  TANDANOR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0292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900" b="1">
                <a:solidFill>
                  <a:srgbClr val="17324D"/>
                </a:solidFill>
                <a:latin typeface="DejaVu Sans"/>
              </a:rPr>
              <a:t>Prevención y preparación para emergencias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1064240" cy="38404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586B7C"/>
                </a:solidFill>
                <a:latin typeface="DejaVu Sans"/>
              </a:rPr>
              <a:t>Acciones realizadas dentro del primer semestre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64224"/>
            <a:ext cx="11064240" cy="11887"/>
          </a:xfrm>
          <a:prstGeom prst="rect">
            <a:avLst/>
          </a:prstGeom>
          <a:solidFill>
            <a:srgbClr val="D6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9875520" cy="20116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586B7C"/>
                </a:solidFill>
                <a:latin typeface="DejaVu Sans"/>
              </a:rPr>
              <a:t>Enero–junio 2026  ·  8 de octubre de 2026  ·  Confirmaciones de responsable / Control Completo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530352" cy="22860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87F7A"/>
                </a:solidFill>
                <a:latin typeface="DejaVu San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3474720" cy="1901952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50292" cy="1901952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993391"/>
            <a:ext cx="3163824" cy="557784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500" b="1">
                <a:solidFill>
                  <a:srgbClr val="087F7A"/>
                </a:solidFill>
                <a:latin typeface="DejaVu Sans"/>
              </a:rPr>
              <a:t>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651760"/>
            <a:ext cx="3163824" cy="6400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DejaVu Sans"/>
              </a:rPr>
              <a:t>Vacunas aplicadas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3291839"/>
            <a:ext cx="3163824" cy="4114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86B7C"/>
                </a:solidFill>
                <a:latin typeface="DejaVu Sans"/>
              </a:rPr>
              <a:t>Aplicaciones confirmadas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1874519"/>
            <a:ext cx="3474720" cy="1901952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1874519"/>
            <a:ext cx="50292" cy="1901952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1993391"/>
            <a:ext cx="3163824" cy="557784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500" b="1">
                <a:solidFill>
                  <a:srgbClr val="087F7A"/>
                </a:solidFill>
                <a:latin typeface="DejaVu Sans"/>
              </a:rP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651760"/>
            <a:ext cx="3163824" cy="6400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DejaVu Sans"/>
              </a:rPr>
              <a:t>Asistentes RCP y DEA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3291839"/>
            <a:ext cx="3163824" cy="4114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86B7C"/>
                </a:solidFill>
                <a:latin typeface="DejaVu Sans"/>
              </a:rPr>
              <a:t>Capacitación realizada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6448" y="1874519"/>
            <a:ext cx="3474720" cy="1901952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6448" y="1874519"/>
            <a:ext cx="50292" cy="1901952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1993391"/>
            <a:ext cx="3163824" cy="557784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500" b="1">
                <a:solidFill>
                  <a:srgbClr val="087F7A"/>
                </a:solidFill>
                <a:latin typeface="DejaVu Sans"/>
              </a:rPr>
              <a:t>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2651760"/>
            <a:ext cx="3163824" cy="6400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DejaVu Sans"/>
              </a:rPr>
              <a:t>Botiquines revisados*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3291839"/>
            <a:ext cx="3163824" cy="4114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86B7C"/>
                </a:solidFill>
                <a:latin typeface="DejaVu Sans"/>
              </a:rPr>
              <a:t>Evidencia fechada en 1S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14800"/>
            <a:ext cx="256032" cy="43891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087F7A"/>
                </a:solidFill>
                <a:latin typeface="DejaVu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14800"/>
            <a:ext cx="10671048" cy="43891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Vacunación: una acción preventiva concreta.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617720"/>
            <a:ext cx="256032" cy="43891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087F7A"/>
                </a:solidFill>
                <a:latin typeface="DejaVu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617720"/>
            <a:ext cx="10671048" cy="43891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RCP y DEA: formación realizada en respuesta a emergencias.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120640"/>
            <a:ext cx="256032" cy="43891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087F7A"/>
                </a:solidFill>
                <a:latin typeface="DejaVu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20640"/>
            <a:ext cx="10671048" cy="438912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Botiquines: control documentado de elementos de atención.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980176"/>
            <a:ext cx="11064240" cy="24688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86B7C"/>
                </a:solidFill>
                <a:latin typeface="DejaVu Sans"/>
              </a:rPr>
              <a:t>*Última fecha de revisión disponible. Fuentes y unidades se mantienen diferenciadas.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1064240" cy="29260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087F7A"/>
                </a:solidFill>
                <a:latin typeface="DejaVu Sans"/>
              </a:rPr>
              <a:t>SERVICIO MÉDICO  /  TANDANOR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0292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900" b="1">
                <a:solidFill>
                  <a:srgbClr val="17324D"/>
                </a:solidFill>
                <a:latin typeface="DejaVu Sans"/>
              </a:rPr>
              <a:t>Ausentismo médico: dimensión del impacto laboral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1064240" cy="38404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586B7C"/>
                </a:solidFill>
                <a:latin typeface="DejaVu Sans"/>
              </a:rPr>
              <a:t>Enero–junio · Enfermedad + ART / horas teóricas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64224"/>
            <a:ext cx="11064240" cy="11887"/>
          </a:xfrm>
          <a:prstGeom prst="rect">
            <a:avLst/>
          </a:prstGeom>
          <a:solidFill>
            <a:srgbClr val="D6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9875520" cy="20116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586B7C"/>
                </a:solidFill>
                <a:latin typeface="DejaVu Sans"/>
              </a:rPr>
              <a:t>Enero–junio 2026  ·  8 de octubre de 2026  ·  Indicadores de ausentismo RRHH · Enero–junio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530352" cy="22860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87F7A"/>
                </a:solidFill>
                <a:latin typeface="DejaVu San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2743200" cy="1719072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50292" cy="1719072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2002536"/>
            <a:ext cx="2432304" cy="557784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500" b="1">
                <a:solidFill>
                  <a:srgbClr val="087F7A"/>
                </a:solidFill>
                <a:latin typeface="DejaVu Sans"/>
              </a:rPr>
              <a:t>4,72%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660904"/>
            <a:ext cx="2432304" cy="6400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DejaVu Sans"/>
              </a:rPr>
              <a:t>Semestre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3118104"/>
            <a:ext cx="2432304" cy="4114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86B7C"/>
                </a:solidFill>
                <a:latin typeface="DejaVu Sans"/>
              </a:rPr>
              <a:t>18.895 horas médicas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22191"/>
            <a:ext cx="2743200" cy="1719072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822191"/>
            <a:ext cx="50292" cy="1719072"/>
          </a:xfrm>
          <a:prstGeom prst="rect">
            <a:avLst/>
          </a:prstGeom>
          <a:solidFill>
            <a:srgbClr val="63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3941063"/>
            <a:ext cx="2432304" cy="557784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500" b="1">
                <a:solidFill>
                  <a:srgbClr val="6386A8"/>
                </a:solidFill>
                <a:latin typeface="DejaVu Sans"/>
              </a:rPr>
              <a:t>3,92%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599431"/>
            <a:ext cx="2432304" cy="6400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DejaVu Sans"/>
              </a:rPr>
              <a:t>Semestre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5056631"/>
            <a:ext cx="2432304" cy="4114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86B7C"/>
                </a:solidFill>
                <a:latin typeface="DejaVu Sans"/>
              </a:rPr>
              <a:t>15.729 horas médicas</a:t>
            </a:r>
          </a:p>
        </p:txBody>
      </p:sp>
      <p:pic>
        <p:nvPicPr>
          <p:cNvPr id="19" name="Picture 18" descr="ausentis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2139847"/>
            <a:ext cx="7909560" cy="3117801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66928" y="5623560"/>
            <a:ext cx="11064240" cy="630936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623560"/>
            <a:ext cx="54864" cy="630936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696712"/>
            <a:ext cx="10725912" cy="512063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50" b="0">
                <a:solidFill>
                  <a:srgbClr val="17324D"/>
                </a:solidFill>
                <a:latin typeface="DejaVu Sans"/>
              </a:rPr>
              <a:t>Cambio interanual: +0,795 puntos porcentuales. BP se incluye en enfermedad.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1064240" cy="29260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087F7A"/>
                </a:solidFill>
                <a:latin typeface="DejaVu Sans"/>
              </a:rPr>
              <a:t>SERVICIO MÉDICO  /  TANDANOR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0292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900" b="1">
                <a:solidFill>
                  <a:srgbClr val="17324D"/>
                </a:solidFill>
                <a:latin typeface="DejaVu Sans"/>
              </a:rPr>
              <a:t>Siniestralidad ART: comparación de nueve meses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1064240" cy="38404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586B7C"/>
                </a:solidFill>
                <a:latin typeface="DejaVu Sans"/>
              </a:rPr>
              <a:t>Enero–septiembre 2025 frente a enero–septiembre 2026 · Fuente: informes originales de Provincia 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64224"/>
            <a:ext cx="11064240" cy="11887"/>
          </a:xfrm>
          <a:prstGeom prst="rect">
            <a:avLst/>
          </a:prstGeom>
          <a:solidFill>
            <a:srgbClr val="D6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9875520" cy="20116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586B7C"/>
                </a:solidFill>
                <a:latin typeface="DejaVu Sans"/>
              </a:rPr>
              <a:t>Siniestralidad · Enero–septiembre  ·  8 de octubre de 2026  ·  Provincia ART · PDF originales / pág.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530352" cy="22860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87F7A"/>
                </a:solidFill>
                <a:latin typeface="DejaVu Sans"/>
              </a:rPr>
              <a:t>10</a:t>
            </a:r>
          </a:p>
        </p:txBody>
      </p:sp>
      <p:pic>
        <p:nvPicPr>
          <p:cNvPr id="9" name="Picture 8" descr="comparativo_portal_9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31072"/>
            <a:ext cx="5586983" cy="344391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56248" y="1901952"/>
            <a:ext cx="5038344" cy="1673352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56248" y="1901952"/>
            <a:ext cx="50292" cy="1673352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11696" y="2020824"/>
            <a:ext cx="4727448" cy="557784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500" b="1">
                <a:solidFill>
                  <a:srgbClr val="087F7A"/>
                </a:solidFill>
                <a:latin typeface="DejaVu Sans"/>
              </a:rPr>
              <a:t>82 → 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1696" y="2679192"/>
            <a:ext cx="4727448" cy="6400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DejaVu Sans"/>
              </a:rPr>
              <a:t>Denuncias informadas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1696" y="3090672"/>
            <a:ext cx="4727448" cy="4114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86B7C"/>
                </a:solidFill>
                <a:latin typeface="DejaVu Sans"/>
              </a:rPr>
              <a:t>−31,7% interanual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6248" y="3749039"/>
            <a:ext cx="5038344" cy="1673352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56248" y="3749039"/>
            <a:ext cx="50292" cy="1673352"/>
          </a:xfrm>
          <a:prstGeom prst="rect">
            <a:avLst/>
          </a:prstGeom>
          <a:solidFill>
            <a:srgbClr val="C98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3867911"/>
            <a:ext cx="4727448" cy="557784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500" b="1">
                <a:solidFill>
                  <a:srgbClr val="C98545"/>
                </a:solidFill>
                <a:latin typeface="DejaVu Sans"/>
              </a:rPr>
              <a:t>16 → 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1696" y="4526279"/>
            <a:ext cx="4727448" cy="6400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17324D"/>
                </a:solidFill>
                <a:latin typeface="DejaVu Sans"/>
              </a:rPr>
              <a:t>Rechazos informados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1696" y="4937759"/>
            <a:ext cx="4727448" cy="41148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86B7C"/>
                </a:solidFill>
                <a:latin typeface="DejaVu Sans"/>
              </a:rPr>
              <a:t>19,5% → 44,6% de denuncias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623560"/>
            <a:ext cx="11064240" cy="630936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623560"/>
            <a:ext cx="54864" cy="630936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696712"/>
            <a:ext cx="10725912" cy="512063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DejaVu Sans"/>
              </a:rPr>
              <a:t>Menos denuncias y más rechazos: el comparativo no prueba la causa del cambio.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1064240" cy="29260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087F7A"/>
                </a:solidFill>
                <a:latin typeface="DejaVu Sans"/>
              </a:rPr>
              <a:t>SERVICIO MÉDICO  /  TANDANOR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0292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900" b="1">
                <a:solidFill>
                  <a:srgbClr val="17324D"/>
                </a:solidFill>
                <a:latin typeface="DejaVu Sans"/>
              </a:rPr>
              <a:t>Rechazos en la planilla: AT, AI y 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1064240" cy="38404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586B7C"/>
                </a:solidFill>
                <a:latin typeface="DejaVu Sans"/>
              </a:rPr>
              <a:t>Casos con inicio entre enero y septiembre de 2026 · Estado consignado en la copia actual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64224"/>
            <a:ext cx="11064240" cy="11887"/>
          </a:xfrm>
          <a:prstGeom prst="rect">
            <a:avLst/>
          </a:prstGeom>
          <a:solidFill>
            <a:srgbClr val="D6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9875520" cy="20116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586B7C"/>
                </a:solidFill>
                <a:latin typeface="DejaVu Sans"/>
              </a:rPr>
              <a:t>Siniestralidad · Enero–septiembre  ·  8 de octubre de 2026  ·  Planilla Tandanor · ART / corte 30/09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530352" cy="22860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87F7A"/>
                </a:solidFill>
                <a:latin typeface="DejaVu Sans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74519"/>
            <a:ext cx="7488936" cy="66751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56815"/>
            <a:ext cx="3046506" cy="54864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DejaVu Sans"/>
              </a:rPr>
              <a:t>Tipo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8610" y="1956815"/>
            <a:ext cx="1324051" cy="54864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DejaVu Sans"/>
              </a:rPr>
              <a:t>Inicios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76397" y="1956815"/>
            <a:ext cx="2597170" cy="54864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DejaVu Sans"/>
              </a:rPr>
              <a:t>Rechazos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542032"/>
            <a:ext cx="7488936" cy="667512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624327"/>
            <a:ext cx="3046506" cy="54864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7324D"/>
                </a:solidFill>
                <a:latin typeface="DejaVu Sans"/>
              </a:rPr>
              <a:t>AT · Trabajo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8610" y="2624327"/>
            <a:ext cx="1324051" cy="54864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397" y="2624327"/>
            <a:ext cx="2597170" cy="54864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209544"/>
            <a:ext cx="7488936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291839"/>
            <a:ext cx="3046506" cy="54864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7324D"/>
                </a:solidFill>
                <a:latin typeface="DejaVu Sans"/>
              </a:rPr>
              <a:t>AI · In itinere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78610" y="3291839"/>
            <a:ext cx="1324051" cy="54864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397" y="3291839"/>
            <a:ext cx="2597170" cy="54864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877056"/>
            <a:ext cx="7488936" cy="667512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959352"/>
            <a:ext cx="3046506" cy="54864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7324D"/>
                </a:solidFill>
                <a:latin typeface="DejaVu Sans"/>
              </a:rPr>
              <a:t>EP · Profesional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78610" y="3959352"/>
            <a:ext cx="1324051" cy="54864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397" y="3959352"/>
            <a:ext cx="2597170" cy="54864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544568"/>
            <a:ext cx="7488936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626864"/>
            <a:ext cx="3046506" cy="54864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7324D"/>
                </a:solidFill>
                <a:latin typeface="DejaVu Sans"/>
              </a:rPr>
              <a:t>Total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78610" y="4626864"/>
            <a:ext cx="1324051" cy="54864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6397" y="4626864"/>
            <a:ext cx="2597170" cy="54864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14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1874519"/>
            <a:ext cx="3209544" cy="3337560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86216" y="2103120"/>
            <a:ext cx="2852928" cy="59436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087F7A"/>
                </a:solidFill>
                <a:latin typeface="DejaVu Sans"/>
              </a:rPr>
              <a:t>Registro propio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86216" y="2980944"/>
            <a:ext cx="2852928" cy="1975104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Los 25 rechazos del portal no tienen desglose AT / AI / EP.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623560"/>
            <a:ext cx="11064240" cy="630936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5623560"/>
            <a:ext cx="54864" cy="630936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696712"/>
            <a:ext cx="10725912" cy="512063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50" b="0">
                <a:solidFill>
                  <a:srgbClr val="17324D"/>
                </a:solidFill>
                <a:latin typeface="DejaVu Sans"/>
              </a:rPr>
              <a:t>La falta de mención de rechazo no confirma aceptación.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8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1064240" cy="29260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087F7A"/>
                </a:solidFill>
                <a:latin typeface="DejaVu Sans"/>
              </a:rPr>
              <a:t>SERVICIO MÉDICO  /  TANDANOR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50292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900" b="1">
                <a:solidFill>
                  <a:srgbClr val="17324D"/>
                </a:solidFill>
                <a:latin typeface="DejaVu Sans"/>
              </a:rPr>
              <a:t>Cómo interpretar el cruce con la 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1064240" cy="38404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586B7C"/>
                </a:solidFill>
                <a:latin typeface="DejaVu Sans"/>
              </a:rPr>
              <a:t>Dos fuentes describen universos y fechas diferentes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364224"/>
            <a:ext cx="11064240" cy="11887"/>
          </a:xfrm>
          <a:prstGeom prst="rect">
            <a:avLst/>
          </a:prstGeom>
          <a:solidFill>
            <a:srgbClr val="D6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9875520" cy="201168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586B7C"/>
                </a:solidFill>
                <a:latin typeface="DejaVu Sans"/>
              </a:rPr>
              <a:t>Siniestralidad · Enero–septiembre  ·  8 de octubre de 2026  ·  Planilla actualizada / Provincia ART · págs. 1 y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530352" cy="228600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87F7A"/>
                </a:solidFill>
                <a:latin typeface="DejaVu Sans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47088"/>
            <a:ext cx="11064240" cy="521207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29384"/>
            <a:ext cx="6907377" cy="402335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DejaVu Sans"/>
              </a:rPr>
              <a:t>Fuente / indicador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39481" y="1929384"/>
            <a:ext cx="1817827" cy="402335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DejaVu Sans"/>
              </a:rPr>
              <a:t>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1044" y="1929384"/>
            <a:ext cx="1817827" cy="402335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DejaVu Sans"/>
              </a:rPr>
              <a:t>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368296"/>
            <a:ext cx="11064240" cy="521207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50591"/>
            <a:ext cx="6907377" cy="402335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7324D"/>
                </a:solidFill>
                <a:latin typeface="DejaVu Sans"/>
              </a:rPr>
              <a:t>Portal · Denuncias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9481" y="2450591"/>
            <a:ext cx="1817827" cy="402335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1044" y="2450591"/>
            <a:ext cx="1817827" cy="402335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56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889504"/>
            <a:ext cx="1106424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971800"/>
            <a:ext cx="6907377" cy="402335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7324D"/>
                </a:solidFill>
                <a:latin typeface="DejaVu Sans"/>
              </a:rPr>
              <a:t>Portal · Rechazos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9481" y="2971800"/>
            <a:ext cx="1817827" cy="402335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1044" y="2971800"/>
            <a:ext cx="1817827" cy="402335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410712"/>
            <a:ext cx="11064240" cy="521207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493008"/>
            <a:ext cx="6907377" cy="402335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7324D"/>
                </a:solidFill>
                <a:latin typeface="DejaVu Sans"/>
              </a:rPr>
              <a:t>Portal · Casos graves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39481" y="3493008"/>
            <a:ext cx="1817827" cy="402335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1044" y="3493008"/>
            <a:ext cx="1817827" cy="402335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931920"/>
            <a:ext cx="1106424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014215"/>
            <a:ext cx="6907377" cy="402335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7324D"/>
                </a:solidFill>
                <a:latin typeface="DejaVu Sans"/>
              </a:rPr>
              <a:t>Portal · Recaídas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39481" y="4014215"/>
            <a:ext cx="1817827" cy="402335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1044" y="4014215"/>
            <a:ext cx="1817827" cy="402335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4599432"/>
            <a:ext cx="256032" cy="448056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087F7A"/>
                </a:solidFill>
                <a:latin typeface="DejaVu San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599432"/>
            <a:ext cx="10671048" cy="448056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Planilla 2026: 39 inicios y 14 rechazos consignados.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111496"/>
            <a:ext cx="256032" cy="448056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087F7A"/>
                </a:solidFill>
                <a:latin typeface="DejaVu San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111496"/>
            <a:ext cx="10671048" cy="448056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DejaVu Sans"/>
              </a:rPr>
              <a:t>La diferencia de conteos no identifica omisiones caso por caso.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5733288"/>
            <a:ext cx="11064240" cy="539496"/>
          </a:xfrm>
          <a:prstGeom prst="rect">
            <a:avLst/>
          </a:prstGeom>
          <a:noFill/>
        </p:spPr>
        <p:txBody>
          <a:bodyPr wrap="square" lIns="22860" rIns="22860" tIns="22860" bIns="13716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586B7C"/>
                </a:solidFill>
                <a:latin typeface="DejaVu Sans"/>
              </a:rPr>
              <a:t>Gráfico / tabla: diferencia de 3 casos en 2025 y 8 en 2026; coincide con recaídas, hipótesis sin confirmar.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586B7C"/>
                </a:solidFill>
                <a:latin typeface="DejaVu Sans"/>
              </a:rPr>
              <a:t>Las frecuencias del portal usan 12 meses.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Gestión del Servicio Médico Tandanor · Resultados 1S2026 y siniestralidad enero–septiembre</dc:title>
  <dc:subject>Datos agregados para Dirección</dc:subject>
  <dc:creator>Servicio Médico Tandanor</dc:creator>
  <cp:keywords>Gestión, ART, RCP, DEA, vacunación, datos agregados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